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71" r:id="rId6"/>
    <p:sldId id="263" r:id="rId7"/>
    <p:sldId id="272" r:id="rId8"/>
    <p:sldId id="273" r:id="rId9"/>
    <p:sldId id="277" r:id="rId10"/>
    <p:sldId id="274" r:id="rId11"/>
    <p:sldId id="278" r:id="rId12"/>
    <p:sldId id="275" r:id="rId13"/>
    <p:sldId id="279" r:id="rId14"/>
    <p:sldId id="276" r:id="rId15"/>
    <p:sldId id="280" r:id="rId16"/>
    <p:sldId id="281" r:id="rId17"/>
    <p:sldId id="282" r:id="rId18"/>
    <p:sldId id="283" r:id="rId19"/>
    <p:sldId id="292" r:id="rId20"/>
    <p:sldId id="284" r:id="rId21"/>
    <p:sldId id="285" r:id="rId22"/>
    <p:sldId id="286" r:id="rId23"/>
    <p:sldId id="287" r:id="rId24"/>
    <p:sldId id="288" r:id="rId25"/>
    <p:sldId id="289" r:id="rId26"/>
    <p:sldId id="290" r:id="rId27"/>
    <p:sldId id="291" r:id="rId28"/>
    <p:sldId id="293" r:id="rId29"/>
    <p:sldId id="296" r:id="rId30"/>
    <p:sldId id="294" r:id="rId31"/>
    <p:sldId id="295" r:id="rId32"/>
    <p:sldId id="298" r:id="rId33"/>
    <p:sldId id="297" r:id="rId34"/>
    <p:sldId id="262" r:id="rId35"/>
  </p:sldIdLst>
  <p:sldSz cx="9144000" cy="5143500" type="screen16x9"/>
  <p:notesSz cx="6858000" cy="9144000"/>
  <p:defaultTex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62" autoAdjust="0"/>
    <p:restoredTop sz="94660"/>
  </p:normalViewPr>
  <p:slideViewPr>
    <p:cSldViewPr snapToGrid="0" snapToObjects="1">
      <p:cViewPr varScale="1">
        <p:scale>
          <a:sx n="91" d="100"/>
          <a:sy n="91" d="100"/>
        </p:scale>
        <p:origin x="780" y="90"/>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pic>
        <p:nvPicPr>
          <p:cNvPr id="7" name="Imagen 6" descr="portada-gobierno.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2990882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pic>
        <p:nvPicPr>
          <p:cNvPr id="7" name="Imagen 6" descr="portad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24242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pic>
        <p:nvPicPr>
          <p:cNvPr id="7" name="Imagen 6" descr="intern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10708572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pic>
        <p:nvPicPr>
          <p:cNvPr id="8" name="Imagen 7" descr="interna+textur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919681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pic>
        <p:nvPicPr>
          <p:cNvPr id="10" name="Imagen 9" descr="interna-con-franj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653050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ólo el título">
    <p:spTree>
      <p:nvGrpSpPr>
        <p:cNvPr id="1" name=""/>
        <p:cNvGrpSpPr/>
        <p:nvPr/>
      </p:nvGrpSpPr>
      <p:grpSpPr>
        <a:xfrm>
          <a:off x="0" y="0"/>
          <a:ext cx="0" cy="0"/>
          <a:chOff x="0" y="0"/>
          <a:chExt cx="0" cy="0"/>
        </a:xfrm>
      </p:grpSpPr>
      <p:pic>
        <p:nvPicPr>
          <p:cNvPr id="6" name="Imagen 5" descr="interna-naranj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2535619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5" name="Imagen 4" descr="cierr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23379170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1" y="204787"/>
            <a:ext cx="3008313" cy="871538"/>
          </a:xfrm>
        </p:spPr>
        <p:txBody>
          <a:bodyPr anchor="b"/>
          <a:lstStyle>
            <a:lvl1pPr algn="l">
              <a:defRPr sz="2000" b="1"/>
            </a:lvl1pPr>
          </a:lstStyle>
          <a:p>
            <a:r>
              <a:rPr lang="es-ES_tradnl"/>
              <a:t>Clic para editar título</a:t>
            </a:r>
            <a:endParaRPr lang="es-ES"/>
          </a:p>
        </p:txBody>
      </p:sp>
      <p:sp>
        <p:nvSpPr>
          <p:cNvPr id="3" name="Marcador de contenido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texto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5" name="Marcador de fecha 4"/>
          <p:cNvSpPr>
            <a:spLocks noGrp="1"/>
          </p:cNvSpPr>
          <p:nvPr>
            <p:ph type="dt" sz="half" idx="10"/>
          </p:nvPr>
        </p:nvSpPr>
        <p:spPr/>
        <p:txBody>
          <a:bodyPr/>
          <a:lstStyle/>
          <a:p>
            <a:fld id="{B3030C24-9424-B24A-8613-79990C3AA492}" type="datetimeFigureOut">
              <a:rPr lang="es-ES" smtClean="0"/>
              <a:t>01/04/2022</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6E4248DC-D261-1A47-8987-CC426E938172}" type="slidenum">
              <a:rPr lang="es-ES" smtClean="0"/>
              <a:t>‹Nº›</a:t>
            </a:fld>
            <a:endParaRPr lang="es-ES"/>
          </a:p>
        </p:txBody>
      </p:sp>
    </p:spTree>
    <p:extLst>
      <p:ext uri="{BB962C8B-B14F-4D97-AF65-F5344CB8AC3E}">
        <p14:creationId xmlns:p14="http://schemas.microsoft.com/office/powerpoint/2010/main" val="1454780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792288" y="3600450"/>
            <a:ext cx="5486400" cy="425054"/>
          </a:xfrm>
        </p:spPr>
        <p:txBody>
          <a:bodyPr anchor="b"/>
          <a:lstStyle>
            <a:lvl1pPr algn="l">
              <a:defRPr sz="2000" b="1"/>
            </a:lvl1pPr>
          </a:lstStyle>
          <a:p>
            <a:r>
              <a:rPr lang="es-ES_tradnl"/>
              <a:t>Clic para editar título</a:t>
            </a:r>
            <a:endParaRPr lang="es-ES"/>
          </a:p>
        </p:txBody>
      </p:sp>
      <p:sp>
        <p:nvSpPr>
          <p:cNvPr id="3" name="Marcador de posición de imagen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5" name="Marcador de fecha 4"/>
          <p:cNvSpPr>
            <a:spLocks noGrp="1"/>
          </p:cNvSpPr>
          <p:nvPr>
            <p:ph type="dt" sz="half" idx="10"/>
          </p:nvPr>
        </p:nvSpPr>
        <p:spPr/>
        <p:txBody>
          <a:bodyPr/>
          <a:lstStyle/>
          <a:p>
            <a:fld id="{B3030C24-9424-B24A-8613-79990C3AA492}" type="datetimeFigureOut">
              <a:rPr lang="es-ES" smtClean="0"/>
              <a:t>01/04/2022</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6E4248DC-D261-1A47-8987-CC426E938172}" type="slidenum">
              <a:rPr lang="es-ES" smtClean="0"/>
              <a:t>‹Nº›</a:t>
            </a:fld>
            <a:endParaRPr lang="es-ES"/>
          </a:p>
        </p:txBody>
      </p:sp>
    </p:spTree>
    <p:extLst>
      <p:ext uri="{BB962C8B-B14F-4D97-AF65-F5344CB8AC3E}">
        <p14:creationId xmlns:p14="http://schemas.microsoft.com/office/powerpoint/2010/main" val="322782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texto vertical 2"/>
          <p:cNvSpPr>
            <a:spLocks noGrp="1"/>
          </p:cNvSpPr>
          <p:nvPr>
            <p:ph type="body" orient="vert" idx="1"/>
          </p:nvPr>
        </p:nvSpPr>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fld id="{B3030C24-9424-B24A-8613-79990C3AA492}" type="datetimeFigureOut">
              <a:rPr lang="es-ES" smtClean="0"/>
              <a:t>01/04/2022</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E4248DC-D261-1A47-8987-CC426E938172}" type="slidenum">
              <a:rPr lang="es-ES" smtClean="0"/>
              <a:t>‹Nº›</a:t>
            </a:fld>
            <a:endParaRPr lang="es-ES"/>
          </a:p>
        </p:txBody>
      </p:sp>
    </p:spTree>
    <p:extLst>
      <p:ext uri="{BB962C8B-B14F-4D97-AF65-F5344CB8AC3E}">
        <p14:creationId xmlns:p14="http://schemas.microsoft.com/office/powerpoint/2010/main" val="3157577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05979"/>
            <a:ext cx="2057400" cy="4388644"/>
          </a:xfrm>
        </p:spPr>
        <p:txBody>
          <a:bodyPr vert="eaVert"/>
          <a:lstStyle/>
          <a:p>
            <a:r>
              <a:rPr lang="es-ES_tradnl"/>
              <a:t>Clic para editar título</a:t>
            </a:r>
            <a:endParaRPr lang="es-ES"/>
          </a:p>
        </p:txBody>
      </p:sp>
      <p:sp>
        <p:nvSpPr>
          <p:cNvPr id="3" name="Marcador de texto vertical 2"/>
          <p:cNvSpPr>
            <a:spLocks noGrp="1"/>
          </p:cNvSpPr>
          <p:nvPr>
            <p:ph type="body" orient="vert" idx="1"/>
          </p:nvPr>
        </p:nvSpPr>
        <p:spPr>
          <a:xfrm>
            <a:off x="457200" y="205979"/>
            <a:ext cx="6019800" cy="4388644"/>
          </a:xfrm>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fld id="{B3030C24-9424-B24A-8613-79990C3AA492}" type="datetimeFigureOut">
              <a:rPr lang="es-ES" smtClean="0"/>
              <a:t>01/04/2022</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E4248DC-D261-1A47-8987-CC426E938172}" type="slidenum">
              <a:rPr lang="es-ES" smtClean="0"/>
              <a:t>‹Nº›</a:t>
            </a:fld>
            <a:endParaRPr lang="es-ES"/>
          </a:p>
        </p:txBody>
      </p:sp>
    </p:spTree>
    <p:extLst>
      <p:ext uri="{BB962C8B-B14F-4D97-AF65-F5344CB8AC3E}">
        <p14:creationId xmlns:p14="http://schemas.microsoft.com/office/powerpoint/2010/main" val="2010572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s-ES_tradnl"/>
              <a:t>Clic para editar título</a:t>
            </a:r>
            <a:endParaRPr lang="es-ES"/>
          </a:p>
        </p:txBody>
      </p:sp>
      <p:sp>
        <p:nvSpPr>
          <p:cNvPr id="3" name="Marcador de texto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B3030C24-9424-B24A-8613-79990C3AA492}" type="datetimeFigureOut">
              <a:rPr lang="es-ES" smtClean="0"/>
              <a:t>01/04/2022</a:t>
            </a:fld>
            <a:endParaRPr lang="es-ES"/>
          </a:p>
        </p:txBody>
      </p:sp>
      <p:sp>
        <p:nvSpPr>
          <p:cNvPr id="5" name="Marcador de pie de página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6E4248DC-D261-1A47-8987-CC426E938172}" type="slidenum">
              <a:rPr lang="es-ES" smtClean="0"/>
              <a:t>‹Nº›</a:t>
            </a:fld>
            <a:endParaRPr lang="es-ES"/>
          </a:p>
        </p:txBody>
      </p:sp>
    </p:spTree>
    <p:extLst>
      <p:ext uri="{BB962C8B-B14F-4D97-AF65-F5344CB8AC3E}">
        <p14:creationId xmlns:p14="http://schemas.microsoft.com/office/powerpoint/2010/main" val="37458503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hyperlink" Target="../Primer%20trimestre/mapa%20de%20procesos.pdf" TargetMode="Externa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hyperlink" Target="../Primer%20trimestre/JINRO%20Servicio%20en%20BAR.png"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hyperlink" Target="../Primer%20trimestre/Levantamiento%20de%20Informaci&#243;n.docx" TargetMode="Externa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hyperlink" Target="https://github.com/TatanDesign/Jinro-online-Shopping" TargetMode="Externa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hyperlink" Target="../Segundo%20trimestre/Formato%20de%20Requerimientos%20funcionales%20y%20no%20funcionales.docx" TargetMode="Externa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hyperlink" Target="../Segundo%20trimestre/grupo%20de%20Casos%20de%20Uso1.pdf" TargetMode="Externa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hyperlink" Target="../Segundo%20trimestre/Casos%20de%20uso%20extendido.docx" TargetMode="Externa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hyperlink" Target="../Segundo%20trimestre/MODELO%20ENTIDAD%20RELACION%20JINRO.jpg" TargetMode="Externa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hyperlink" Target="../Segundo%20trimestre/Diagrama%20de%20Gant%20Jinro%20Online%20Shopping.mpp" TargetMode="Externa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hyperlink" Target="Diagrama%20de%20Clases%20Jinro%20.jpg" TargetMode="Externa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hyperlink" Target="file:///C:\Users\Tatan%20Design\Desktop\Jinro%20Online%20shoping%20mockup.pdf" TargetMode="Externa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hyperlink" Target="MR_Jinro_.pdf" TargetMode="Externa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hyperlink" Target="Diccionario_de_datos_jinro.html" TargetMode="Externa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hyperlink" Target="Base%20de%20datos%20.xlsx" TargetMode="Externa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hyperlink" Target="DDJINROONLINESHOPING.png" TargetMode="Externa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4572001" y="1019508"/>
            <a:ext cx="3489340" cy="1323439"/>
          </a:xfrm>
          <a:prstGeom prst="rect">
            <a:avLst/>
          </a:prstGeom>
          <a:noFill/>
        </p:spPr>
        <p:txBody>
          <a:bodyPr wrap="square" rtlCol="0">
            <a:spAutoFit/>
          </a:bodyPr>
          <a:lstStyle/>
          <a:p>
            <a:pPr algn="ctr"/>
            <a:r>
              <a:rPr lang="es-ES" sz="4000" b="1" dirty="0">
                <a:solidFill>
                  <a:schemeClr val="tx1">
                    <a:lumMod val="75000"/>
                    <a:lumOff val="25000"/>
                  </a:schemeClr>
                </a:solidFill>
              </a:rPr>
              <a:t>JINRO ONLINE SHOPING</a:t>
            </a:r>
          </a:p>
        </p:txBody>
      </p:sp>
      <p:sp>
        <p:nvSpPr>
          <p:cNvPr id="2" name="CuadroTexto 1">
            <a:extLst>
              <a:ext uri="{FF2B5EF4-FFF2-40B4-BE49-F238E27FC236}">
                <a16:creationId xmlns:a16="http://schemas.microsoft.com/office/drawing/2014/main" id="{BFFD2D37-CBEA-4F03-8B47-B968CD3F35E8}"/>
              </a:ext>
            </a:extLst>
          </p:cNvPr>
          <p:cNvSpPr txBox="1"/>
          <p:nvPr/>
        </p:nvSpPr>
        <p:spPr>
          <a:xfrm>
            <a:off x="691116" y="2800553"/>
            <a:ext cx="4029739" cy="1323439"/>
          </a:xfrm>
          <a:prstGeom prst="rect">
            <a:avLst/>
          </a:prstGeom>
          <a:noFill/>
        </p:spPr>
        <p:txBody>
          <a:bodyPr wrap="square" rtlCol="0">
            <a:spAutoFit/>
          </a:bodyPr>
          <a:lstStyle/>
          <a:p>
            <a:pPr marL="72000"/>
            <a:r>
              <a:rPr lang="es-CO" sz="1600" dirty="0">
                <a:solidFill>
                  <a:schemeClr val="tx1">
                    <a:lumMod val="50000"/>
                    <a:lumOff val="50000"/>
                  </a:schemeClr>
                </a:solidFill>
              </a:rPr>
              <a:t>JULIETH STEPHANY CASTRO OLIVARES</a:t>
            </a:r>
          </a:p>
          <a:p>
            <a:pPr marL="72000"/>
            <a:r>
              <a:rPr lang="es-CO" sz="1600" dirty="0">
                <a:solidFill>
                  <a:schemeClr val="tx1">
                    <a:lumMod val="50000"/>
                    <a:lumOff val="50000"/>
                  </a:schemeClr>
                </a:solidFill>
              </a:rPr>
              <a:t>MARIA ESTEFANIA LOZANO ALVAREZ</a:t>
            </a:r>
          </a:p>
          <a:p>
            <a:pPr marL="72000"/>
            <a:r>
              <a:rPr lang="es-CO" sz="1600" dirty="0">
                <a:solidFill>
                  <a:schemeClr val="tx1">
                    <a:lumMod val="50000"/>
                    <a:lumOff val="50000"/>
                  </a:schemeClr>
                </a:solidFill>
              </a:rPr>
              <a:t>JONATHAN ESTILL HERRERA RAMOS</a:t>
            </a:r>
          </a:p>
          <a:p>
            <a:pPr marL="72000"/>
            <a:r>
              <a:rPr lang="es-CO" sz="1600" dirty="0">
                <a:solidFill>
                  <a:schemeClr val="tx1">
                    <a:lumMod val="50000"/>
                    <a:lumOff val="50000"/>
                  </a:schemeClr>
                </a:solidFill>
              </a:rPr>
              <a:t>JUAN CAMILO PUENTES OBANDO </a:t>
            </a:r>
          </a:p>
          <a:p>
            <a:pPr marL="72000"/>
            <a:r>
              <a:rPr lang="es-CO" sz="1600" dirty="0">
                <a:solidFill>
                  <a:schemeClr val="tx1">
                    <a:lumMod val="50000"/>
                    <a:lumOff val="50000"/>
                  </a:schemeClr>
                </a:solidFill>
              </a:rPr>
              <a:t>JAIR FELIPE SANTIAGO DOMINGUEZ</a:t>
            </a:r>
          </a:p>
        </p:txBody>
      </p:sp>
      <p:pic>
        <p:nvPicPr>
          <p:cNvPr id="4" name="Imagen 3">
            <a:extLst>
              <a:ext uri="{FF2B5EF4-FFF2-40B4-BE49-F238E27FC236}">
                <a16:creationId xmlns:a16="http://schemas.microsoft.com/office/drawing/2014/main" id="{242064E1-4965-4EDF-9E09-7ADDCECECF3A}"/>
              </a:ext>
            </a:extLst>
          </p:cNvPr>
          <p:cNvPicPr>
            <a:picLocks noChangeAspect="1"/>
          </p:cNvPicPr>
          <p:nvPr/>
        </p:nvPicPr>
        <p:blipFill>
          <a:blip r:embed="rId2"/>
          <a:stretch>
            <a:fillRect/>
          </a:stretch>
        </p:blipFill>
        <p:spPr>
          <a:xfrm>
            <a:off x="5002925" y="3605389"/>
            <a:ext cx="1723696" cy="613196"/>
          </a:xfrm>
          <a:prstGeom prst="rect">
            <a:avLst/>
          </a:prstGeom>
        </p:spPr>
      </p:pic>
    </p:spTree>
    <p:extLst>
      <p:ext uri="{BB962C8B-B14F-4D97-AF65-F5344CB8AC3E}">
        <p14:creationId xmlns:p14="http://schemas.microsoft.com/office/powerpoint/2010/main" val="432883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p:cTn id="7" dur="500" fill="hold"/>
                                        <p:tgtEl>
                                          <p:spTgt spid="7">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7">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5463843" y="901908"/>
            <a:ext cx="2756985" cy="523220"/>
          </a:xfrm>
          <a:prstGeom prst="rect">
            <a:avLst/>
          </a:prstGeom>
          <a:noFill/>
        </p:spPr>
        <p:txBody>
          <a:bodyPr wrap="square" rtlCol="0">
            <a:spAutoFit/>
          </a:bodyPr>
          <a:lstStyle/>
          <a:p>
            <a:pPr algn="r"/>
            <a:r>
              <a:rPr lang="es-ES" sz="2800" b="1" dirty="0">
                <a:solidFill>
                  <a:schemeClr val="tx1">
                    <a:lumMod val="75000"/>
                    <a:lumOff val="25000"/>
                  </a:schemeClr>
                </a:solidFill>
              </a:rPr>
              <a:t>CONTENIDO</a:t>
            </a:r>
          </a:p>
        </p:txBody>
      </p:sp>
      <p:sp>
        <p:nvSpPr>
          <p:cNvPr id="2" name="CuadroTexto 1">
            <a:extLst>
              <a:ext uri="{FF2B5EF4-FFF2-40B4-BE49-F238E27FC236}">
                <a16:creationId xmlns:a16="http://schemas.microsoft.com/office/drawing/2014/main" id="{57FF61C1-D73D-47B1-8753-9844C73CC0D0}"/>
              </a:ext>
            </a:extLst>
          </p:cNvPr>
          <p:cNvSpPr txBox="1"/>
          <p:nvPr/>
        </p:nvSpPr>
        <p:spPr>
          <a:xfrm>
            <a:off x="1605517" y="632757"/>
            <a:ext cx="4486939" cy="3877985"/>
          </a:xfrm>
          <a:prstGeom prst="rect">
            <a:avLst/>
          </a:prstGeom>
          <a:noFill/>
        </p:spPr>
        <p:txBody>
          <a:bodyPr wrap="square" rtlCol="0">
            <a:spAutoFit/>
          </a:bodyPr>
          <a:lstStyle/>
          <a:p>
            <a:pPr marL="285750" indent="-285750">
              <a:buFont typeface="Arial" panose="020B0604020202020204" pitchFamily="34" charset="0"/>
              <a:buChar char="•"/>
            </a:pPr>
            <a:r>
              <a:rPr lang="es-CO" sz="1600" dirty="0">
                <a:solidFill>
                  <a:schemeClr val="tx1">
                    <a:lumMod val="50000"/>
                    <a:lumOff val="50000"/>
                  </a:schemeClr>
                </a:solidFill>
              </a:rPr>
              <a:t>RESUMEN</a:t>
            </a:r>
          </a:p>
          <a:p>
            <a:pPr marL="285750" indent="-285750">
              <a:buFont typeface="Arial" panose="020B0604020202020204" pitchFamily="34" charset="0"/>
              <a:buChar char="•"/>
            </a:pPr>
            <a:r>
              <a:rPr lang="es-CO" sz="1600" dirty="0">
                <a:solidFill>
                  <a:schemeClr val="tx1">
                    <a:lumMod val="50000"/>
                    <a:lumOff val="50000"/>
                  </a:schemeClr>
                </a:solidFill>
              </a:rPr>
              <a:t>PLANTEAMIENTO DEL PROBLEMA</a:t>
            </a:r>
          </a:p>
          <a:p>
            <a:pPr marL="285750" indent="-285750">
              <a:buFont typeface="Arial" panose="020B0604020202020204" pitchFamily="34" charset="0"/>
              <a:buChar char="•"/>
            </a:pPr>
            <a:r>
              <a:rPr lang="es-CO" sz="1600" dirty="0">
                <a:solidFill>
                  <a:schemeClr val="tx1">
                    <a:lumMod val="50000"/>
                    <a:lumOff val="50000"/>
                  </a:schemeClr>
                </a:solidFill>
              </a:rPr>
              <a:t>OBJETIVOS</a:t>
            </a:r>
          </a:p>
          <a:p>
            <a:pPr marL="285750" indent="-285750">
              <a:buFont typeface="Arial" panose="020B0604020202020204" pitchFamily="34" charset="0"/>
              <a:buChar char="•"/>
            </a:pPr>
            <a:r>
              <a:rPr lang="es-CO" sz="1600" dirty="0">
                <a:solidFill>
                  <a:schemeClr val="tx1">
                    <a:lumMod val="50000"/>
                    <a:lumOff val="50000"/>
                  </a:schemeClr>
                </a:solidFill>
              </a:rPr>
              <a:t>JUSTIFICACION</a:t>
            </a:r>
          </a:p>
          <a:p>
            <a:pPr marL="285750" indent="-285750">
              <a:buFont typeface="Arial" panose="020B0604020202020204" pitchFamily="34" charset="0"/>
              <a:buChar char="•"/>
            </a:pPr>
            <a:r>
              <a:rPr lang="es-CO" sz="1600" dirty="0">
                <a:solidFill>
                  <a:schemeClr val="tx1">
                    <a:lumMod val="50000"/>
                    <a:lumOff val="50000"/>
                  </a:schemeClr>
                </a:solidFill>
              </a:rPr>
              <a:t>ALCANCE</a:t>
            </a:r>
          </a:p>
          <a:p>
            <a:pPr marL="285750" indent="-285750">
              <a:buFont typeface="Arial" panose="020B0604020202020204" pitchFamily="34" charset="0"/>
              <a:buChar char="•"/>
            </a:pPr>
            <a:r>
              <a:rPr lang="es-CO" sz="1600" dirty="0">
                <a:solidFill>
                  <a:schemeClr val="tx1">
                    <a:lumMod val="50000"/>
                    <a:lumOff val="50000"/>
                  </a:schemeClr>
                </a:solidFill>
              </a:rPr>
              <a:t>DIAGRAMA DE GHANTT</a:t>
            </a:r>
          </a:p>
          <a:p>
            <a:pPr marL="285750" indent="-285750">
              <a:buFont typeface="Arial" panose="020B0604020202020204" pitchFamily="34" charset="0"/>
              <a:buChar char="•"/>
            </a:pPr>
            <a:r>
              <a:rPr lang="es-CO" sz="1600" dirty="0">
                <a:solidFill>
                  <a:schemeClr val="tx1">
                    <a:lumMod val="50000"/>
                    <a:lumOff val="50000"/>
                  </a:schemeClr>
                </a:solidFill>
              </a:rPr>
              <a:t>MAPA DE PROCESOS </a:t>
            </a:r>
          </a:p>
          <a:p>
            <a:pPr marL="285750" indent="-285750">
              <a:buFont typeface="Arial" panose="020B0604020202020204" pitchFamily="34" charset="0"/>
              <a:buChar char="•"/>
            </a:pPr>
            <a:r>
              <a:rPr lang="es-CO" sz="1600" dirty="0">
                <a:solidFill>
                  <a:schemeClr val="tx1">
                    <a:lumMod val="50000"/>
                    <a:lumOff val="50000"/>
                  </a:schemeClr>
                </a:solidFill>
              </a:rPr>
              <a:t>BPMN</a:t>
            </a:r>
          </a:p>
          <a:p>
            <a:pPr marL="285750" indent="-285750">
              <a:buFont typeface="Arial" panose="020B0604020202020204" pitchFamily="34" charset="0"/>
              <a:buChar char="•"/>
            </a:pPr>
            <a:r>
              <a:rPr lang="es-CO" sz="1600" dirty="0">
                <a:solidFill>
                  <a:schemeClr val="tx1">
                    <a:lumMod val="50000"/>
                    <a:lumOff val="50000"/>
                  </a:schemeClr>
                </a:solidFill>
              </a:rPr>
              <a:t>LEVANTAMIENTO DE INFROMACION</a:t>
            </a:r>
          </a:p>
          <a:p>
            <a:pPr marL="285750" indent="-285750">
              <a:buFont typeface="Arial" panose="020B0604020202020204" pitchFamily="34" charset="0"/>
              <a:buChar char="•"/>
            </a:pPr>
            <a:r>
              <a:rPr lang="es-CO" sz="1600" dirty="0">
                <a:solidFill>
                  <a:schemeClr val="tx1">
                    <a:lumMod val="50000"/>
                    <a:lumOff val="50000"/>
                  </a:schemeClr>
                </a:solidFill>
              </a:rPr>
              <a:t>CONTROL DE VERSIONES</a:t>
            </a:r>
          </a:p>
          <a:p>
            <a:pPr marL="285750" indent="-285750">
              <a:buFont typeface="Arial" panose="020B0604020202020204" pitchFamily="34" charset="0"/>
              <a:buChar char="•"/>
            </a:pPr>
            <a:r>
              <a:rPr lang="es-CO" sz="1600" dirty="0">
                <a:solidFill>
                  <a:schemeClr val="tx1">
                    <a:lumMod val="50000"/>
                    <a:lumOff val="50000"/>
                  </a:schemeClr>
                </a:solidFill>
              </a:rPr>
              <a:t>RF</a:t>
            </a:r>
          </a:p>
          <a:p>
            <a:pPr marL="285750" indent="-285750">
              <a:buFont typeface="Arial" panose="020B0604020202020204" pitchFamily="34" charset="0"/>
              <a:buChar char="•"/>
            </a:pPr>
            <a:r>
              <a:rPr lang="es-CO" sz="1600" dirty="0">
                <a:solidFill>
                  <a:schemeClr val="tx1">
                    <a:lumMod val="50000"/>
                    <a:lumOff val="50000"/>
                  </a:schemeClr>
                </a:solidFill>
              </a:rPr>
              <a:t>DIAGRAMAS CASOS DE USOS</a:t>
            </a:r>
          </a:p>
          <a:p>
            <a:pPr marL="285750" indent="-285750">
              <a:buFont typeface="Arial" panose="020B0604020202020204" pitchFamily="34" charset="0"/>
              <a:buChar char="•"/>
            </a:pPr>
            <a:r>
              <a:rPr lang="es-CO" sz="1600" dirty="0">
                <a:solidFill>
                  <a:schemeClr val="tx1">
                    <a:lumMod val="50000"/>
                    <a:lumOff val="50000"/>
                  </a:schemeClr>
                </a:solidFill>
              </a:rPr>
              <a:t>FORMATO CASOS DE USOS EXTENDIDOS</a:t>
            </a:r>
          </a:p>
          <a:p>
            <a:pPr marL="285750" indent="-285750">
              <a:buFont typeface="Arial" panose="020B0604020202020204" pitchFamily="34" charset="0"/>
              <a:buChar char="•"/>
            </a:pPr>
            <a:r>
              <a:rPr lang="es-CO" sz="1600" dirty="0">
                <a:solidFill>
                  <a:schemeClr val="tx1">
                    <a:lumMod val="50000"/>
                    <a:lumOff val="50000"/>
                  </a:schemeClr>
                </a:solidFill>
              </a:rPr>
              <a:t>MODELO ENTIDAD RELACION</a:t>
            </a:r>
          </a:p>
          <a:p>
            <a:endParaRPr lang="es-CO" dirty="0"/>
          </a:p>
        </p:txBody>
      </p:sp>
    </p:spTree>
    <p:extLst>
      <p:ext uri="{BB962C8B-B14F-4D97-AF65-F5344CB8AC3E}">
        <p14:creationId xmlns:p14="http://schemas.microsoft.com/office/powerpoint/2010/main" val="3083268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fade">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fade">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fade">
                                      <p:cBhvr>
                                        <p:cTn id="47" dur="500"/>
                                        <p:tgtEl>
                                          <p:spTgt spid="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
                                            <p:txEl>
                                              <p:pRg st="9" end="9"/>
                                            </p:txEl>
                                          </p:spTgt>
                                        </p:tgtEl>
                                        <p:attrNameLst>
                                          <p:attrName>style.visibility</p:attrName>
                                        </p:attrNameLst>
                                      </p:cBhvr>
                                      <p:to>
                                        <p:strVal val="visible"/>
                                      </p:to>
                                    </p:set>
                                    <p:animEffect transition="in" filter="fade">
                                      <p:cBhvr>
                                        <p:cTn id="52" dur="500"/>
                                        <p:tgtEl>
                                          <p:spTgt spid="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
                                            <p:txEl>
                                              <p:pRg st="10" end="10"/>
                                            </p:txEl>
                                          </p:spTgt>
                                        </p:tgtEl>
                                        <p:attrNameLst>
                                          <p:attrName>style.visibility</p:attrName>
                                        </p:attrNameLst>
                                      </p:cBhvr>
                                      <p:to>
                                        <p:strVal val="visible"/>
                                      </p:to>
                                    </p:set>
                                    <p:animEffect transition="in" filter="fade">
                                      <p:cBhvr>
                                        <p:cTn id="57" dur="500"/>
                                        <p:tgtEl>
                                          <p:spTgt spid="2">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
                                            <p:txEl>
                                              <p:pRg st="11" end="11"/>
                                            </p:txEl>
                                          </p:spTgt>
                                        </p:tgtEl>
                                        <p:attrNameLst>
                                          <p:attrName>style.visibility</p:attrName>
                                        </p:attrNameLst>
                                      </p:cBhvr>
                                      <p:to>
                                        <p:strVal val="visible"/>
                                      </p:to>
                                    </p:set>
                                    <p:animEffect transition="in" filter="fade">
                                      <p:cBhvr>
                                        <p:cTn id="62" dur="500"/>
                                        <p:tgtEl>
                                          <p:spTgt spid="2">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
                                            <p:txEl>
                                              <p:pRg st="12" end="12"/>
                                            </p:txEl>
                                          </p:spTgt>
                                        </p:tgtEl>
                                        <p:attrNameLst>
                                          <p:attrName>style.visibility</p:attrName>
                                        </p:attrNameLst>
                                      </p:cBhvr>
                                      <p:to>
                                        <p:strVal val="visible"/>
                                      </p:to>
                                    </p:set>
                                    <p:animEffect transition="in" filter="fade">
                                      <p:cBhvr>
                                        <p:cTn id="67" dur="500"/>
                                        <p:tgtEl>
                                          <p:spTgt spid="2">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
                                            <p:txEl>
                                              <p:pRg st="13" end="13"/>
                                            </p:txEl>
                                          </p:spTgt>
                                        </p:tgtEl>
                                        <p:attrNameLst>
                                          <p:attrName>style.visibility</p:attrName>
                                        </p:attrNameLst>
                                      </p:cBhvr>
                                      <p:to>
                                        <p:strVal val="visible"/>
                                      </p:to>
                                    </p:set>
                                    <p:animEffect transition="in" filter="fade">
                                      <p:cBhvr>
                                        <p:cTn id="72" dur="500"/>
                                        <p:tgtEl>
                                          <p:spTgt spid="2">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2668773" y="1638552"/>
            <a:ext cx="3213386" cy="923330"/>
          </a:xfrm>
          <a:prstGeom prst="rect">
            <a:avLst/>
          </a:prstGeom>
          <a:noFill/>
        </p:spPr>
        <p:txBody>
          <a:bodyPr wrap="square" rtlCol="0">
            <a:spAutoFit/>
          </a:bodyPr>
          <a:lstStyle/>
          <a:p>
            <a:r>
              <a:rPr lang="es-ES" sz="5400" b="1" dirty="0">
                <a:solidFill>
                  <a:schemeClr val="tx1">
                    <a:lumMod val="75000"/>
                    <a:lumOff val="25000"/>
                  </a:schemeClr>
                </a:solidFill>
              </a:rPr>
              <a:t>RESUMEN</a:t>
            </a:r>
          </a:p>
        </p:txBody>
      </p:sp>
      <p:sp>
        <p:nvSpPr>
          <p:cNvPr id="5" name="Rectángulo 4"/>
          <p:cNvSpPr/>
          <p:nvPr/>
        </p:nvSpPr>
        <p:spPr>
          <a:xfrm>
            <a:off x="3580355" y="2539984"/>
            <a:ext cx="718487" cy="4571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4077941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658758" y="448091"/>
            <a:ext cx="7826483" cy="4247317"/>
          </a:xfrm>
          <a:prstGeom prst="rect">
            <a:avLst/>
          </a:prstGeom>
          <a:noFill/>
        </p:spPr>
        <p:txBody>
          <a:bodyPr wrap="square" rtlCol="0">
            <a:spAutoFit/>
          </a:bodyPr>
          <a:lstStyle/>
          <a:p>
            <a:r>
              <a:rPr lang="es-CO" dirty="0">
                <a:solidFill>
                  <a:schemeClr val="tx1">
                    <a:lumMod val="75000"/>
                    <a:lumOff val="25000"/>
                  </a:schemeClr>
                </a:solidFill>
              </a:rPr>
              <a:t>JINRO ONLINE SHOPPING, es una plataforma online que nace de las siguientes preguntas: ¿Por qué quiero crear una tienda online en este momento? ¿Cuáles son las ventajas para mi negocio? ¿Qué quiero conseguir creando una plataforma online de ventas? ¿Cómo saber si va a tener éxito la creación de esta plataforma de ventas online?</a:t>
            </a:r>
          </a:p>
          <a:p>
            <a:r>
              <a:rPr lang="es-CO" dirty="0">
                <a:solidFill>
                  <a:schemeClr val="tx1">
                    <a:lumMod val="75000"/>
                    <a:lumOff val="25000"/>
                  </a:schemeClr>
                </a:solidFill>
              </a:rPr>
              <a:t>Ahora bien, en la investigación que se ha realizado por todo el tema de la reactivación de los negocios en donde hemos podido evidenciar que los comercios como los bares, se han tenido que reinventar para poder vender sus productos de alguna forma y no tener que cerrar como muchos negocios en Colombia tuvieron que hacerlo, por lo tanto la idea de este negocio es ayudar con esta reactivación y crear una plataforma en donde se manejen las ventas online de los productos que ofrece este bar, adicional de manejar una base de datos organizada de los productos, del stock que se tiene y  de las ventas que se generan en físico o por la plataforma que se desea crear. </a:t>
            </a:r>
          </a:p>
          <a:p>
            <a:endParaRPr lang="es-ES" dirty="0">
              <a:solidFill>
                <a:schemeClr val="tx1">
                  <a:lumMod val="75000"/>
                  <a:lumOff val="25000"/>
                </a:schemeClr>
              </a:solidFill>
            </a:endParaRPr>
          </a:p>
        </p:txBody>
      </p:sp>
    </p:spTree>
    <p:extLst>
      <p:ext uri="{BB962C8B-B14F-4D97-AF65-F5344CB8AC3E}">
        <p14:creationId xmlns:p14="http://schemas.microsoft.com/office/powerpoint/2010/main" val="2192973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FA4CE60-29D3-4221-89B0-A7C687A254A0}"/>
              </a:ext>
            </a:extLst>
          </p:cNvPr>
          <p:cNvSpPr txBox="1"/>
          <p:nvPr/>
        </p:nvSpPr>
        <p:spPr>
          <a:xfrm>
            <a:off x="1259958" y="1002089"/>
            <a:ext cx="6624084" cy="3139321"/>
          </a:xfrm>
          <a:prstGeom prst="rect">
            <a:avLst/>
          </a:prstGeom>
          <a:noFill/>
        </p:spPr>
        <p:txBody>
          <a:bodyPr wrap="square">
            <a:spAutoFit/>
          </a:bodyPr>
          <a:lstStyle/>
          <a:p>
            <a:r>
              <a:rPr lang="es-CO" dirty="0"/>
              <a:t>A raíz de la pandemia, el e-</a:t>
            </a:r>
            <a:r>
              <a:rPr lang="es-CO" dirty="0" err="1"/>
              <a:t>commerce</a:t>
            </a:r>
            <a:r>
              <a:rPr lang="es-CO" dirty="0"/>
              <a:t> se convirtió en una necesidad para los empresarios para poder subsistir y mantener sus negocios con el fin de atender la creciente demanda de consumidores virtuales y minimizar los riesgos y gastos que supone cualquier tienda física.</a:t>
            </a:r>
          </a:p>
          <a:p>
            <a:r>
              <a:rPr lang="es-CO" dirty="0"/>
              <a:t>Según cifras de la firma Nasdaq, se estima que para el año 2040, el 95 % de las compras en el mundo se realizarán de manera ‘online’. Además, para el caso de Colombia, datos de la Cámara Colombiana de Comercio Electrónico (CCCE) revelan que el e-</a:t>
            </a:r>
            <a:r>
              <a:rPr lang="es-CO" dirty="0" err="1"/>
              <a:t>commerce</a:t>
            </a:r>
            <a:r>
              <a:rPr lang="es-CO" dirty="0"/>
              <a:t> presentará indicadores positivos y tendrá un crecimiento del 16 % al cierre de 2021.</a:t>
            </a:r>
          </a:p>
        </p:txBody>
      </p:sp>
    </p:spTree>
    <p:extLst>
      <p:ext uri="{BB962C8B-B14F-4D97-AF65-F5344CB8AC3E}">
        <p14:creationId xmlns:p14="http://schemas.microsoft.com/office/powerpoint/2010/main" val="3794648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p:cNvSpPr txBox="1"/>
          <p:nvPr/>
        </p:nvSpPr>
        <p:spPr>
          <a:xfrm>
            <a:off x="771491" y="825682"/>
            <a:ext cx="4278974" cy="1200329"/>
          </a:xfrm>
          <a:prstGeom prst="rect">
            <a:avLst/>
          </a:prstGeom>
          <a:noFill/>
        </p:spPr>
        <p:txBody>
          <a:bodyPr wrap="square" rtlCol="0">
            <a:spAutoFit/>
          </a:bodyPr>
          <a:lstStyle/>
          <a:p>
            <a:r>
              <a:rPr lang="es-ES" sz="3600" b="1" dirty="0">
                <a:solidFill>
                  <a:schemeClr val="tx1">
                    <a:lumMod val="75000"/>
                    <a:lumOff val="25000"/>
                  </a:schemeClr>
                </a:solidFill>
              </a:rPr>
              <a:t>PLANTEAMIENTO DEL PROBLEMA</a:t>
            </a:r>
          </a:p>
        </p:txBody>
      </p:sp>
      <p:sp>
        <p:nvSpPr>
          <p:cNvPr id="7" name="Rectángulo 6"/>
          <p:cNvSpPr/>
          <p:nvPr/>
        </p:nvSpPr>
        <p:spPr>
          <a:xfrm>
            <a:off x="859075" y="1896870"/>
            <a:ext cx="718487" cy="4571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pic>
        <p:nvPicPr>
          <p:cNvPr id="1030" name="Picture 6" descr="Fotos de Hombre pensando caricatura de stock, Hombre pensando caricatura  imágenes libres de derechos | Depositphotos®">
            <a:extLst>
              <a:ext uri="{FF2B5EF4-FFF2-40B4-BE49-F238E27FC236}">
                <a16:creationId xmlns:a16="http://schemas.microsoft.com/office/drawing/2014/main" id="{EADE9286-C2E2-4AFB-836A-136FAF7B7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4650" y="0"/>
            <a:ext cx="4359349" cy="5143500"/>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n 9">
            <a:extLst>
              <a:ext uri="{FF2B5EF4-FFF2-40B4-BE49-F238E27FC236}">
                <a16:creationId xmlns:a16="http://schemas.microsoft.com/office/drawing/2014/main" id="{D506DD2A-841F-47E8-A61F-684159D91C9C}"/>
              </a:ext>
            </a:extLst>
          </p:cNvPr>
          <p:cNvPicPr>
            <a:picLocks noChangeAspect="1"/>
          </p:cNvPicPr>
          <p:nvPr/>
        </p:nvPicPr>
        <p:blipFill>
          <a:blip r:embed="rId3"/>
          <a:stretch>
            <a:fillRect/>
          </a:stretch>
        </p:blipFill>
        <p:spPr>
          <a:xfrm>
            <a:off x="8419998" y="0"/>
            <a:ext cx="724001" cy="657317"/>
          </a:xfrm>
          <a:prstGeom prst="rect">
            <a:avLst/>
          </a:prstGeom>
        </p:spPr>
      </p:pic>
    </p:spTree>
    <p:extLst>
      <p:ext uri="{BB962C8B-B14F-4D97-AF65-F5344CB8AC3E}">
        <p14:creationId xmlns:p14="http://schemas.microsoft.com/office/powerpoint/2010/main" val="1540564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287F1DFA-E8D3-4645-BE63-753D035151D0}"/>
              </a:ext>
            </a:extLst>
          </p:cNvPr>
          <p:cNvSpPr txBox="1"/>
          <p:nvPr/>
        </p:nvSpPr>
        <p:spPr>
          <a:xfrm>
            <a:off x="818707" y="586591"/>
            <a:ext cx="7506586" cy="4524315"/>
          </a:xfrm>
          <a:prstGeom prst="rect">
            <a:avLst/>
          </a:prstGeom>
          <a:noFill/>
        </p:spPr>
        <p:txBody>
          <a:bodyPr wrap="square" rtlCol="0">
            <a:spAutoFit/>
          </a:bodyPr>
          <a:lstStyle/>
          <a:p>
            <a:r>
              <a:rPr lang="es-CO" dirty="0"/>
              <a:t>El bar </a:t>
            </a:r>
            <a:r>
              <a:rPr lang="es-CO" dirty="0" err="1"/>
              <a:t>Star</a:t>
            </a:r>
            <a:r>
              <a:rPr lang="es-CO" dirty="0"/>
              <a:t> </a:t>
            </a:r>
            <a:r>
              <a:rPr lang="es-CO" dirty="0" err="1"/>
              <a:t>Wars</a:t>
            </a:r>
            <a:r>
              <a:rPr lang="es-CO" dirty="0"/>
              <a:t> ubicado en el centro Comercial Unisur, local 017 en la  </a:t>
            </a:r>
            <a:r>
              <a:rPr lang="es-CO" dirty="0" err="1"/>
              <a:t>Cra</a:t>
            </a:r>
            <a:r>
              <a:rPr lang="es-CO" dirty="0"/>
              <a:t> 4 # 28 – 10 San Mateo, Soacha, es un bar con una temática basada en la película de acción </a:t>
            </a:r>
            <a:r>
              <a:rPr lang="es-CO" dirty="0" err="1"/>
              <a:t>Star</a:t>
            </a:r>
            <a:r>
              <a:rPr lang="es-CO" dirty="0"/>
              <a:t> </a:t>
            </a:r>
            <a:r>
              <a:rPr lang="es-CO" dirty="0" err="1"/>
              <a:t>Wars</a:t>
            </a:r>
            <a:r>
              <a:rPr lang="es-CO" dirty="0"/>
              <a:t>, de allí sale el nombre, en esta empresa se venden productos como comidas rápidas y especiales, diferentes cocteles y todo el servicio de tragos.  En este bar se puede disfrutar de dos ambientes diferentes de música ya que cuanta con dos pisos en donde se puede disfrutar de música diferente. </a:t>
            </a:r>
          </a:p>
          <a:p>
            <a:endParaRPr lang="es-CO" dirty="0"/>
          </a:p>
          <a:p>
            <a:r>
              <a:rPr lang="es-CO" dirty="0"/>
              <a:t>En el bar se manejan procesos como la dirección, el marketing, la contabilidad y las finanzas que son manejadas por el dueño, la parte de reporte de ventas y administrativa, la maneja el administrador del bar, al recepción, toma de pedidos en manejada por los meseros, la realización de pedidos es manejada por ayudante del administrador y por el administrador y por ultimo la gestión de compra, contratación y tics, es manejado por el dueño en colaboración de administrador. </a:t>
            </a:r>
          </a:p>
          <a:p>
            <a:endParaRPr lang="es-CO" dirty="0"/>
          </a:p>
        </p:txBody>
      </p:sp>
    </p:spTree>
    <p:extLst>
      <p:ext uri="{BB962C8B-B14F-4D97-AF65-F5344CB8AC3E}">
        <p14:creationId xmlns:p14="http://schemas.microsoft.com/office/powerpoint/2010/main" val="1439200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E964206A-7654-4A6B-A5A9-DCE5762B8B47}"/>
              </a:ext>
            </a:extLst>
          </p:cNvPr>
          <p:cNvSpPr txBox="1"/>
          <p:nvPr/>
        </p:nvSpPr>
        <p:spPr>
          <a:xfrm>
            <a:off x="946297" y="1556087"/>
            <a:ext cx="7251405" cy="2031325"/>
          </a:xfrm>
          <a:prstGeom prst="rect">
            <a:avLst/>
          </a:prstGeom>
          <a:noFill/>
        </p:spPr>
        <p:txBody>
          <a:bodyPr wrap="square" rtlCol="0">
            <a:spAutoFit/>
          </a:bodyPr>
          <a:lstStyle/>
          <a:p>
            <a:r>
              <a:rPr lang="es-ES" dirty="0"/>
              <a:t>El levantamiento de información, se realizo con entrevistas a cada uno de los colaboradores del bar, para poder obtener información de las funciones generales de cada uno  y así tener claras las funciones que cumplen en los procesos, adicional de tener contacto con el dueño del bar para saber como maneja la parte de control de stock de productos y las ventas que realiza en el bar, y como saca el registro de las mismas para así tener en claro que va a manejar el sistema y como lo va a manejar.</a:t>
            </a:r>
            <a:endParaRPr lang="es-CO" dirty="0"/>
          </a:p>
        </p:txBody>
      </p:sp>
    </p:spTree>
    <p:extLst>
      <p:ext uri="{BB962C8B-B14F-4D97-AF65-F5344CB8AC3E}">
        <p14:creationId xmlns:p14="http://schemas.microsoft.com/office/powerpoint/2010/main" val="3389032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16A82B6E-0EC4-4741-B93E-FF0D76DEC2EA}"/>
              </a:ext>
            </a:extLst>
          </p:cNvPr>
          <p:cNvSpPr txBox="1"/>
          <p:nvPr/>
        </p:nvSpPr>
        <p:spPr>
          <a:xfrm>
            <a:off x="2169041" y="1010094"/>
            <a:ext cx="4805917" cy="1754326"/>
          </a:xfrm>
          <a:prstGeom prst="rect">
            <a:avLst/>
          </a:prstGeom>
          <a:noFill/>
        </p:spPr>
        <p:txBody>
          <a:bodyPr wrap="square" rtlCol="0">
            <a:spAutoFit/>
          </a:bodyPr>
          <a:lstStyle/>
          <a:p>
            <a:pPr algn="ctr"/>
            <a:r>
              <a:rPr lang="es-CO" sz="5400" b="1" dirty="0">
                <a:solidFill>
                  <a:schemeClr val="tx1">
                    <a:lumMod val="75000"/>
                    <a:lumOff val="25000"/>
                  </a:schemeClr>
                </a:solidFill>
              </a:rPr>
              <a:t>OBJETIVO GENERAL</a:t>
            </a:r>
          </a:p>
        </p:txBody>
      </p:sp>
      <p:sp>
        <p:nvSpPr>
          <p:cNvPr id="4" name="Rectángulo 3">
            <a:extLst>
              <a:ext uri="{FF2B5EF4-FFF2-40B4-BE49-F238E27FC236}">
                <a16:creationId xmlns:a16="http://schemas.microsoft.com/office/drawing/2014/main" id="{F0BFDACB-01E9-4AE5-A6BE-8BE6E3B214CF}"/>
              </a:ext>
            </a:extLst>
          </p:cNvPr>
          <p:cNvSpPr/>
          <p:nvPr/>
        </p:nvSpPr>
        <p:spPr>
          <a:xfrm flipV="1">
            <a:off x="3723700" y="2741560"/>
            <a:ext cx="1696597" cy="4571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404619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C7D817B-573D-43AA-A5E4-C8960DA7BEB0}"/>
              </a:ext>
            </a:extLst>
          </p:cNvPr>
          <p:cNvSpPr txBox="1"/>
          <p:nvPr/>
        </p:nvSpPr>
        <p:spPr>
          <a:xfrm>
            <a:off x="1031358" y="1694587"/>
            <a:ext cx="7081284" cy="1754326"/>
          </a:xfrm>
          <a:prstGeom prst="rect">
            <a:avLst/>
          </a:prstGeom>
          <a:noFill/>
        </p:spPr>
        <p:txBody>
          <a:bodyPr wrap="square" rtlCol="0">
            <a:spAutoFit/>
          </a:bodyPr>
          <a:lstStyle/>
          <a:p>
            <a:r>
              <a:rPr lang="es-ES" dirty="0"/>
              <a:t>Desarrollar un sistema de información web,  llamado </a:t>
            </a:r>
            <a:r>
              <a:rPr lang="es-ES" dirty="0" err="1"/>
              <a:t>Jinro</a:t>
            </a:r>
            <a:r>
              <a:rPr lang="es-ES" dirty="0"/>
              <a:t> Online Shopping, para el apoyo de los procesos de dirección, marketing, contabilidad y finanzas, necesidad del cliente en creación de pedidos, control de stock de productos, reporte de ventas para la gestión de compras, y el por ultimo el proceso de uso de las tics. </a:t>
            </a:r>
          </a:p>
          <a:p>
            <a:endParaRPr lang="es-CO" dirty="0"/>
          </a:p>
        </p:txBody>
      </p:sp>
    </p:spTree>
    <p:extLst>
      <p:ext uri="{BB962C8B-B14F-4D97-AF65-F5344CB8AC3E}">
        <p14:creationId xmlns:p14="http://schemas.microsoft.com/office/powerpoint/2010/main" val="3241900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EB30AB63-42C3-4D21-AFD1-9629EA4798C3}"/>
              </a:ext>
            </a:extLst>
          </p:cNvPr>
          <p:cNvSpPr txBox="1"/>
          <p:nvPr/>
        </p:nvSpPr>
        <p:spPr>
          <a:xfrm>
            <a:off x="2286000" y="863143"/>
            <a:ext cx="4572000" cy="1754326"/>
          </a:xfrm>
          <a:prstGeom prst="rect">
            <a:avLst/>
          </a:prstGeom>
          <a:noFill/>
        </p:spPr>
        <p:txBody>
          <a:bodyPr wrap="square">
            <a:spAutoFit/>
          </a:bodyPr>
          <a:lstStyle/>
          <a:p>
            <a:pPr algn="ctr"/>
            <a:r>
              <a:rPr lang="es-CO" sz="5400" b="1" dirty="0">
                <a:solidFill>
                  <a:schemeClr val="tx1">
                    <a:lumMod val="75000"/>
                    <a:lumOff val="25000"/>
                  </a:schemeClr>
                </a:solidFill>
              </a:rPr>
              <a:t>OBJETIVOS ESPECIFICOS</a:t>
            </a:r>
          </a:p>
        </p:txBody>
      </p:sp>
      <p:sp>
        <p:nvSpPr>
          <p:cNvPr id="4" name="Rectángulo 3">
            <a:extLst>
              <a:ext uri="{FF2B5EF4-FFF2-40B4-BE49-F238E27FC236}">
                <a16:creationId xmlns:a16="http://schemas.microsoft.com/office/drawing/2014/main" id="{52D58807-1E3B-4B26-887C-9551FD997249}"/>
              </a:ext>
            </a:extLst>
          </p:cNvPr>
          <p:cNvSpPr/>
          <p:nvPr/>
        </p:nvSpPr>
        <p:spPr>
          <a:xfrm flipV="1">
            <a:off x="3723699" y="2571750"/>
            <a:ext cx="1696597" cy="4571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655771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DCD34B3D-03B3-4613-B324-D27A8CC2BF3E}"/>
              </a:ext>
            </a:extLst>
          </p:cNvPr>
          <p:cNvSpPr txBox="1"/>
          <p:nvPr/>
        </p:nvSpPr>
        <p:spPr>
          <a:xfrm>
            <a:off x="1451344" y="1002089"/>
            <a:ext cx="6241312" cy="3416320"/>
          </a:xfrm>
          <a:prstGeom prst="rect">
            <a:avLst/>
          </a:prstGeom>
          <a:noFill/>
        </p:spPr>
        <p:txBody>
          <a:bodyPr wrap="square">
            <a:spAutoFit/>
          </a:bodyPr>
          <a:lstStyle/>
          <a:p>
            <a:pPr marL="0" indent="0">
              <a:buNone/>
            </a:pPr>
            <a:r>
              <a:rPr lang="es-ES" dirty="0"/>
              <a:t>El sistema de información Jinro Online shopping gestionara el registro de los usuarios que ingresen a la plataforma adicional de manejar diferentes perfiles para el gerente y el administrador con sus permisos específicos.</a:t>
            </a:r>
          </a:p>
          <a:p>
            <a:pPr marL="0" indent="0">
              <a:buNone/>
            </a:pPr>
            <a:endParaRPr lang="es-ES" dirty="0"/>
          </a:p>
          <a:p>
            <a:pPr marL="0" indent="0">
              <a:buNone/>
            </a:pPr>
            <a:r>
              <a:rPr lang="es-ES" dirty="0"/>
              <a:t>Gestionara el control de ventas que se realicen en el bar por medio de reportes semanales, quincenales y mensuales.</a:t>
            </a:r>
          </a:p>
          <a:p>
            <a:pPr marL="0" indent="0">
              <a:buNone/>
            </a:pPr>
            <a:r>
              <a:rPr lang="es-ES" dirty="0"/>
              <a:t>Gestionara el control del inventario o stock de productos del bar, para tener el control del proceso de gestión de compras. </a:t>
            </a:r>
          </a:p>
          <a:p>
            <a:pPr marL="0" indent="0">
              <a:buNone/>
            </a:pPr>
            <a:r>
              <a:rPr lang="es-ES" dirty="0"/>
              <a:t>Gestionara el control de impresos y  gráficos de la empresa, con el control de facturación de pedidos y detalles de reportes de ventas realizadas. </a:t>
            </a:r>
          </a:p>
        </p:txBody>
      </p:sp>
    </p:spTree>
    <p:extLst>
      <p:ext uri="{BB962C8B-B14F-4D97-AF65-F5344CB8AC3E}">
        <p14:creationId xmlns:p14="http://schemas.microsoft.com/office/powerpoint/2010/main" val="269260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104E7FAF-8E04-4A1C-99FC-72EC09AABACB}"/>
              </a:ext>
            </a:extLst>
          </p:cNvPr>
          <p:cNvSpPr txBox="1"/>
          <p:nvPr/>
        </p:nvSpPr>
        <p:spPr>
          <a:xfrm>
            <a:off x="2286000" y="1648420"/>
            <a:ext cx="4572000" cy="923330"/>
          </a:xfrm>
          <a:prstGeom prst="rect">
            <a:avLst/>
          </a:prstGeom>
          <a:noFill/>
        </p:spPr>
        <p:txBody>
          <a:bodyPr wrap="square">
            <a:spAutoFit/>
          </a:bodyPr>
          <a:lstStyle/>
          <a:p>
            <a:pPr algn="ctr"/>
            <a:r>
              <a:rPr lang="es-CO" sz="5400" b="1" dirty="0">
                <a:solidFill>
                  <a:schemeClr val="tx1">
                    <a:lumMod val="75000"/>
                    <a:lumOff val="25000"/>
                  </a:schemeClr>
                </a:solidFill>
              </a:rPr>
              <a:t>JUSTIFICACION </a:t>
            </a:r>
          </a:p>
        </p:txBody>
      </p:sp>
      <p:sp>
        <p:nvSpPr>
          <p:cNvPr id="6" name="Rectángulo 5">
            <a:extLst>
              <a:ext uri="{FF2B5EF4-FFF2-40B4-BE49-F238E27FC236}">
                <a16:creationId xmlns:a16="http://schemas.microsoft.com/office/drawing/2014/main" id="{19036021-E9CB-4217-A471-3AE44225EEF1}"/>
              </a:ext>
            </a:extLst>
          </p:cNvPr>
          <p:cNvSpPr/>
          <p:nvPr/>
        </p:nvSpPr>
        <p:spPr>
          <a:xfrm flipV="1">
            <a:off x="3723699" y="2571750"/>
            <a:ext cx="1696597" cy="4571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067896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C84C8E46-C353-41D3-9E24-384EBF7B35F7}"/>
              </a:ext>
            </a:extLst>
          </p:cNvPr>
          <p:cNvSpPr txBox="1"/>
          <p:nvPr/>
        </p:nvSpPr>
        <p:spPr>
          <a:xfrm>
            <a:off x="810732" y="309592"/>
            <a:ext cx="7522535" cy="4524315"/>
          </a:xfrm>
          <a:prstGeom prst="rect">
            <a:avLst/>
          </a:prstGeom>
          <a:noFill/>
        </p:spPr>
        <p:txBody>
          <a:bodyPr wrap="square" rtlCol="0">
            <a:spAutoFit/>
          </a:bodyPr>
          <a:lstStyle/>
          <a:p>
            <a:r>
              <a:rPr lang="es-CO" dirty="0"/>
              <a:t>Tener control de inventario de productos y su stock en el sistema de información, apoyando el proceso de gestión de compras.</a:t>
            </a:r>
          </a:p>
          <a:p>
            <a:r>
              <a:rPr lang="es-CO" dirty="0"/>
              <a:t> </a:t>
            </a:r>
          </a:p>
          <a:p>
            <a:r>
              <a:rPr lang="es-CO" dirty="0"/>
              <a:t>Tener el control de los reportes de ventas del bar  y así apoyar el proceso de dirección y de contabilidad y finanza. </a:t>
            </a:r>
          </a:p>
          <a:p>
            <a:endParaRPr lang="es-CO" dirty="0"/>
          </a:p>
          <a:p>
            <a:r>
              <a:rPr lang="es-CO" dirty="0"/>
              <a:t>El sistema de información enviara un alerta o notificación al administrador del bar, apoyando los procesos de recepción y toma de pedidos.</a:t>
            </a:r>
          </a:p>
          <a:p>
            <a:r>
              <a:rPr lang="es-CO" dirty="0"/>
              <a:t> </a:t>
            </a:r>
          </a:p>
          <a:p>
            <a:r>
              <a:rPr lang="es-CO" dirty="0"/>
              <a:t>El sistema de información permitirá al dueño del bar imprimir el reporte de las ventas semanales, quincenales y mensuales, para tener pruebas físicas de ser necesitadas. </a:t>
            </a:r>
          </a:p>
          <a:p>
            <a:endParaRPr lang="es-CO" dirty="0"/>
          </a:p>
          <a:p>
            <a:r>
              <a:rPr lang="es-CO" dirty="0"/>
              <a:t>El sistema de información le permitirá al clientes realizar sus pedidos para ser disfrutados en el bar o a domicilio, apoyado el proceso de satisfacción del cliente y de marketing</a:t>
            </a:r>
          </a:p>
        </p:txBody>
      </p:sp>
    </p:spTree>
    <p:extLst>
      <p:ext uri="{BB962C8B-B14F-4D97-AF65-F5344CB8AC3E}">
        <p14:creationId xmlns:p14="http://schemas.microsoft.com/office/powerpoint/2010/main" val="3050150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13B4B7DB-6794-4AC7-BCD7-AABECF931344}"/>
              </a:ext>
            </a:extLst>
          </p:cNvPr>
          <p:cNvSpPr txBox="1"/>
          <p:nvPr/>
        </p:nvSpPr>
        <p:spPr>
          <a:xfrm>
            <a:off x="2286000" y="983586"/>
            <a:ext cx="4572000" cy="923330"/>
          </a:xfrm>
          <a:prstGeom prst="rect">
            <a:avLst/>
          </a:prstGeom>
          <a:noFill/>
        </p:spPr>
        <p:txBody>
          <a:bodyPr wrap="square">
            <a:spAutoFit/>
          </a:bodyPr>
          <a:lstStyle/>
          <a:p>
            <a:pPr algn="ctr"/>
            <a:r>
              <a:rPr lang="es-CO" sz="5400" b="1" dirty="0">
                <a:solidFill>
                  <a:schemeClr val="tx1">
                    <a:lumMod val="75000"/>
                    <a:lumOff val="25000"/>
                  </a:schemeClr>
                </a:solidFill>
              </a:rPr>
              <a:t>ALCANCE</a:t>
            </a:r>
            <a:endParaRPr lang="es-CO" sz="5400" dirty="0"/>
          </a:p>
        </p:txBody>
      </p:sp>
      <p:sp>
        <p:nvSpPr>
          <p:cNvPr id="4" name="Rectángulo 3">
            <a:extLst>
              <a:ext uri="{FF2B5EF4-FFF2-40B4-BE49-F238E27FC236}">
                <a16:creationId xmlns:a16="http://schemas.microsoft.com/office/drawing/2014/main" id="{69AF59A2-A776-4D50-8CBF-888EF0BEB652}"/>
              </a:ext>
            </a:extLst>
          </p:cNvPr>
          <p:cNvSpPr/>
          <p:nvPr/>
        </p:nvSpPr>
        <p:spPr>
          <a:xfrm flipV="1">
            <a:off x="3723700" y="1861197"/>
            <a:ext cx="1696597" cy="4571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718736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E301E6AE-D9DB-48D0-A70C-1981BB91A068}"/>
              </a:ext>
            </a:extLst>
          </p:cNvPr>
          <p:cNvSpPr txBox="1"/>
          <p:nvPr/>
        </p:nvSpPr>
        <p:spPr>
          <a:xfrm>
            <a:off x="1307804" y="586591"/>
            <a:ext cx="6528391" cy="3970318"/>
          </a:xfrm>
          <a:prstGeom prst="rect">
            <a:avLst/>
          </a:prstGeom>
          <a:noFill/>
        </p:spPr>
        <p:txBody>
          <a:bodyPr wrap="square">
            <a:spAutoFit/>
          </a:bodyPr>
          <a:lstStyle/>
          <a:p>
            <a:r>
              <a:rPr lang="es-CO" dirty="0"/>
              <a:t>El sistema de información </a:t>
            </a:r>
            <a:r>
              <a:rPr lang="es-CO" dirty="0" err="1"/>
              <a:t>Jinro</a:t>
            </a:r>
            <a:r>
              <a:rPr lang="es-CO" dirty="0"/>
              <a:t> Online shopping, gestionara el control de usuarios, con una interfaz de acceso en donde se manejaran diferentes perfiles de acceso y así mostrara las diferentes interfaces que manejaran cada uno de estos usuarios.</a:t>
            </a:r>
          </a:p>
          <a:p>
            <a:endParaRPr lang="es-CO" dirty="0"/>
          </a:p>
          <a:p>
            <a:r>
              <a:rPr lang="es-CO" dirty="0"/>
              <a:t>El sistema de información, gestionara el control de ventas del bar, permitiendo por medio de una interfaz grafica, al dueño del bar realizar un reporte semanal, quincenal y mensual de todas las ventas que realizan, ya sea por la plataforma o por el punto físico.</a:t>
            </a:r>
          </a:p>
          <a:p>
            <a:endParaRPr lang="es-CO" dirty="0"/>
          </a:p>
          <a:p>
            <a:r>
              <a:rPr lang="es-CO" dirty="0"/>
              <a:t>El sistema de información, gestionara el inventario del bar, con la implementación de una base de datos en donde se maneje en tiempo real el stock de productos y a su vez se envié notificación de productos próximos a vencer o a acabarse en el stock. </a:t>
            </a:r>
          </a:p>
        </p:txBody>
      </p:sp>
    </p:spTree>
    <p:extLst>
      <p:ext uri="{BB962C8B-B14F-4D97-AF65-F5344CB8AC3E}">
        <p14:creationId xmlns:p14="http://schemas.microsoft.com/office/powerpoint/2010/main" val="1220233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C688F59-F456-411A-8AB6-FF05A18D5FAC}"/>
              </a:ext>
            </a:extLst>
          </p:cNvPr>
          <p:cNvSpPr txBox="1"/>
          <p:nvPr/>
        </p:nvSpPr>
        <p:spPr>
          <a:xfrm>
            <a:off x="1063256" y="1007354"/>
            <a:ext cx="7017488" cy="3139321"/>
          </a:xfrm>
          <a:prstGeom prst="rect">
            <a:avLst/>
          </a:prstGeom>
          <a:noFill/>
        </p:spPr>
        <p:txBody>
          <a:bodyPr wrap="square">
            <a:spAutoFit/>
          </a:bodyPr>
          <a:lstStyle/>
          <a:p>
            <a:r>
              <a:rPr lang="es-CO" dirty="0"/>
              <a:t>El sistema de información gestionara el reporte de impresos y gráficos del bar, por medio de una interfaz grafica, que permita al dueño de bar imprimir los reporte de ventas que se necesite en físico.</a:t>
            </a:r>
          </a:p>
          <a:p>
            <a:r>
              <a:rPr lang="es-CO" dirty="0"/>
              <a:t> </a:t>
            </a:r>
          </a:p>
          <a:p>
            <a:r>
              <a:rPr lang="es-CO" dirty="0"/>
              <a:t>Para la creación de esta aplicación, se utilizaran diferentes lenguajes de programación  con licencia gratuita, hasta encontrar el que más se ajuste al proyecto. La entrega de este proyecto se realizara el 24 de Julio de 2023, en la Centro Comercial Unisur, local 017 </a:t>
            </a:r>
            <a:r>
              <a:rPr lang="es-CO" dirty="0" err="1"/>
              <a:t>Star</a:t>
            </a:r>
            <a:r>
              <a:rPr lang="es-CO" dirty="0"/>
              <a:t> </a:t>
            </a:r>
            <a:r>
              <a:rPr lang="es-CO" dirty="0" err="1"/>
              <a:t>Wars</a:t>
            </a:r>
            <a:r>
              <a:rPr lang="es-CO" dirty="0"/>
              <a:t> </a:t>
            </a:r>
            <a:r>
              <a:rPr lang="es-CO" dirty="0" err="1"/>
              <a:t>Cra</a:t>
            </a:r>
            <a:r>
              <a:rPr lang="es-CO" dirty="0"/>
              <a:t> 4 # 28 – 10 San Mateo, Soacha al señor Rodrigo Bermúdez, durante el proceso de entrega de realizaran varias muestras del avance del proyecto siguiendo el cronograma de activades. </a:t>
            </a:r>
          </a:p>
        </p:txBody>
      </p:sp>
    </p:spTree>
    <p:extLst>
      <p:ext uri="{BB962C8B-B14F-4D97-AF65-F5344CB8AC3E}">
        <p14:creationId xmlns:p14="http://schemas.microsoft.com/office/powerpoint/2010/main" val="1856246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BF30B6D1-D1FF-4BCF-A172-C56E52EB41AE}"/>
              </a:ext>
            </a:extLst>
          </p:cNvPr>
          <p:cNvSpPr txBox="1"/>
          <p:nvPr/>
        </p:nvSpPr>
        <p:spPr>
          <a:xfrm>
            <a:off x="776177" y="1971585"/>
            <a:ext cx="7591646" cy="1200329"/>
          </a:xfrm>
          <a:prstGeom prst="rect">
            <a:avLst/>
          </a:prstGeom>
          <a:noFill/>
        </p:spPr>
        <p:txBody>
          <a:bodyPr wrap="square">
            <a:spAutoFit/>
          </a:bodyPr>
          <a:lstStyle/>
          <a:p>
            <a:r>
              <a:rPr lang="es-CO" dirty="0"/>
              <a:t>El sistema de información </a:t>
            </a:r>
            <a:r>
              <a:rPr lang="es-CO" dirty="0" err="1"/>
              <a:t>Jinro</a:t>
            </a:r>
            <a:r>
              <a:rPr lang="es-CO" dirty="0"/>
              <a:t> Online Shopping, tendrá como limitantes el no uso de una factura digital y la implementación del sistema en su entrega final de forma local en el bar que queda ubicado en el centro comercial Unisur, local 017. </a:t>
            </a:r>
          </a:p>
        </p:txBody>
      </p:sp>
    </p:spTree>
    <p:extLst>
      <p:ext uri="{BB962C8B-B14F-4D97-AF65-F5344CB8AC3E}">
        <p14:creationId xmlns:p14="http://schemas.microsoft.com/office/powerpoint/2010/main" val="4241077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23749A68-2EDC-4A9B-AB35-550A94CD1E81}"/>
              </a:ext>
            </a:extLst>
          </p:cNvPr>
          <p:cNvSpPr txBox="1"/>
          <p:nvPr/>
        </p:nvSpPr>
        <p:spPr>
          <a:xfrm>
            <a:off x="1286540" y="378859"/>
            <a:ext cx="6528389" cy="1569660"/>
          </a:xfrm>
          <a:prstGeom prst="rect">
            <a:avLst/>
          </a:prstGeom>
          <a:noFill/>
        </p:spPr>
        <p:txBody>
          <a:bodyPr wrap="square">
            <a:spAutoFit/>
          </a:bodyPr>
          <a:lstStyle/>
          <a:p>
            <a:pPr algn="ctr"/>
            <a:r>
              <a:rPr lang="es-CO" sz="4800" b="1" dirty="0">
                <a:solidFill>
                  <a:schemeClr val="tx1">
                    <a:lumMod val="75000"/>
                    <a:lumOff val="25000"/>
                  </a:schemeClr>
                </a:solidFill>
              </a:rPr>
              <a:t>MAPA DE PROCESOS EMPRESA</a:t>
            </a:r>
          </a:p>
        </p:txBody>
      </p:sp>
      <p:sp>
        <p:nvSpPr>
          <p:cNvPr id="4" name="Rectángulo 3">
            <a:extLst>
              <a:ext uri="{FF2B5EF4-FFF2-40B4-BE49-F238E27FC236}">
                <a16:creationId xmlns:a16="http://schemas.microsoft.com/office/drawing/2014/main" id="{D26E14D8-F947-4FED-A10D-38371AFA3FA6}"/>
              </a:ext>
            </a:extLst>
          </p:cNvPr>
          <p:cNvSpPr/>
          <p:nvPr/>
        </p:nvSpPr>
        <p:spPr>
          <a:xfrm flipV="1">
            <a:off x="3723700" y="1861197"/>
            <a:ext cx="1696597" cy="4571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 name="CuadroTexto 1">
            <a:hlinkClick r:id="rId2" action="ppaction://hlinkfile"/>
            <a:extLst>
              <a:ext uri="{FF2B5EF4-FFF2-40B4-BE49-F238E27FC236}">
                <a16:creationId xmlns:a16="http://schemas.microsoft.com/office/drawing/2014/main" id="{FDDFD374-A885-40C3-A755-A5E383106E09}"/>
              </a:ext>
            </a:extLst>
          </p:cNvPr>
          <p:cNvSpPr txBox="1"/>
          <p:nvPr/>
        </p:nvSpPr>
        <p:spPr>
          <a:xfrm>
            <a:off x="2759147" y="3430857"/>
            <a:ext cx="3625702" cy="307777"/>
          </a:xfrm>
          <a:prstGeom prst="rect">
            <a:avLst/>
          </a:prstGeom>
          <a:noFill/>
        </p:spPr>
        <p:txBody>
          <a:bodyPr wrap="square" rtlCol="0">
            <a:spAutoFit/>
          </a:bodyPr>
          <a:lstStyle/>
          <a:p>
            <a:pPr algn="ctr"/>
            <a:r>
              <a:rPr lang="es-CO" sz="1400" dirty="0">
                <a:hlinkClick r:id="rId2" action="ppaction://hlinkfile"/>
              </a:rPr>
              <a:t>Ver mapa de procesos de la empresa</a:t>
            </a:r>
            <a:endParaRPr lang="es-CO" sz="1400" dirty="0"/>
          </a:p>
        </p:txBody>
      </p:sp>
    </p:spTree>
    <p:extLst>
      <p:ext uri="{BB962C8B-B14F-4D97-AF65-F5344CB8AC3E}">
        <p14:creationId xmlns:p14="http://schemas.microsoft.com/office/powerpoint/2010/main" val="2792513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DF49F130-634C-4099-A935-55C08644432D}"/>
              </a:ext>
            </a:extLst>
          </p:cNvPr>
          <p:cNvSpPr txBox="1"/>
          <p:nvPr/>
        </p:nvSpPr>
        <p:spPr>
          <a:xfrm>
            <a:off x="2286000" y="325697"/>
            <a:ext cx="4572000" cy="1569660"/>
          </a:xfrm>
          <a:prstGeom prst="rect">
            <a:avLst/>
          </a:prstGeom>
          <a:noFill/>
        </p:spPr>
        <p:txBody>
          <a:bodyPr wrap="square">
            <a:spAutoFit/>
          </a:bodyPr>
          <a:lstStyle/>
          <a:p>
            <a:pPr algn="ctr"/>
            <a:r>
              <a:rPr lang="es-CO" sz="4800" b="1" dirty="0">
                <a:solidFill>
                  <a:schemeClr val="tx1">
                    <a:lumMod val="75000"/>
                    <a:lumOff val="25000"/>
                  </a:schemeClr>
                </a:solidFill>
              </a:rPr>
              <a:t>BPMN DE PROYECTO</a:t>
            </a:r>
            <a:endParaRPr lang="es-CO" sz="4800" dirty="0"/>
          </a:p>
        </p:txBody>
      </p:sp>
      <p:sp>
        <p:nvSpPr>
          <p:cNvPr id="4" name="Rectángulo 3">
            <a:extLst>
              <a:ext uri="{FF2B5EF4-FFF2-40B4-BE49-F238E27FC236}">
                <a16:creationId xmlns:a16="http://schemas.microsoft.com/office/drawing/2014/main" id="{75916185-5E57-446A-A7C1-A92798E65781}"/>
              </a:ext>
            </a:extLst>
          </p:cNvPr>
          <p:cNvSpPr/>
          <p:nvPr/>
        </p:nvSpPr>
        <p:spPr>
          <a:xfrm flipV="1">
            <a:off x="3723700" y="1861197"/>
            <a:ext cx="1696597" cy="4571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5" name="CuadroTexto 4">
            <a:hlinkClick r:id="rId2" action="ppaction://hlinkfile"/>
            <a:extLst>
              <a:ext uri="{FF2B5EF4-FFF2-40B4-BE49-F238E27FC236}">
                <a16:creationId xmlns:a16="http://schemas.microsoft.com/office/drawing/2014/main" id="{C3E039BB-AED5-4129-9567-3C8EE10E2E97}"/>
              </a:ext>
            </a:extLst>
          </p:cNvPr>
          <p:cNvSpPr txBox="1"/>
          <p:nvPr/>
        </p:nvSpPr>
        <p:spPr>
          <a:xfrm>
            <a:off x="2759147" y="3430857"/>
            <a:ext cx="3625702" cy="307777"/>
          </a:xfrm>
          <a:prstGeom prst="rect">
            <a:avLst/>
          </a:prstGeom>
          <a:noFill/>
        </p:spPr>
        <p:txBody>
          <a:bodyPr wrap="square" rtlCol="0">
            <a:spAutoFit/>
          </a:bodyPr>
          <a:lstStyle/>
          <a:p>
            <a:pPr algn="ctr"/>
            <a:r>
              <a:rPr lang="es-CO" sz="1400" dirty="0">
                <a:hlinkClick r:id="rId2" action="ppaction://hlinkfile"/>
              </a:rPr>
              <a:t>Diagrama de BPMN Jinro servicio Bar</a:t>
            </a:r>
            <a:endParaRPr lang="es-CO" sz="1400" dirty="0"/>
          </a:p>
        </p:txBody>
      </p:sp>
    </p:spTree>
    <p:extLst>
      <p:ext uri="{BB962C8B-B14F-4D97-AF65-F5344CB8AC3E}">
        <p14:creationId xmlns:p14="http://schemas.microsoft.com/office/powerpoint/2010/main" val="3639095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9FC6778-AEF2-42C5-8065-5BE411832963}"/>
              </a:ext>
            </a:extLst>
          </p:cNvPr>
          <p:cNvSpPr txBox="1"/>
          <p:nvPr/>
        </p:nvSpPr>
        <p:spPr>
          <a:xfrm>
            <a:off x="1483242" y="378859"/>
            <a:ext cx="6177516" cy="1569660"/>
          </a:xfrm>
          <a:prstGeom prst="rect">
            <a:avLst/>
          </a:prstGeom>
          <a:noFill/>
        </p:spPr>
        <p:txBody>
          <a:bodyPr wrap="square">
            <a:spAutoFit/>
          </a:bodyPr>
          <a:lstStyle/>
          <a:p>
            <a:pPr algn="ctr"/>
            <a:r>
              <a:rPr lang="es-CO" sz="4800" b="1" dirty="0">
                <a:solidFill>
                  <a:schemeClr val="tx1">
                    <a:lumMod val="75000"/>
                    <a:lumOff val="25000"/>
                  </a:schemeClr>
                </a:solidFill>
              </a:rPr>
              <a:t>LEVANTAMIENTO DE INFORMACION</a:t>
            </a:r>
            <a:endParaRPr lang="es-CO" sz="4800" dirty="0"/>
          </a:p>
        </p:txBody>
      </p:sp>
      <p:sp>
        <p:nvSpPr>
          <p:cNvPr id="4" name="Rectángulo 3">
            <a:extLst>
              <a:ext uri="{FF2B5EF4-FFF2-40B4-BE49-F238E27FC236}">
                <a16:creationId xmlns:a16="http://schemas.microsoft.com/office/drawing/2014/main" id="{36E1F047-4FD7-4CE2-A801-FBD37B470040}"/>
              </a:ext>
            </a:extLst>
          </p:cNvPr>
          <p:cNvSpPr/>
          <p:nvPr/>
        </p:nvSpPr>
        <p:spPr>
          <a:xfrm flipV="1">
            <a:off x="3723700" y="1861197"/>
            <a:ext cx="1696597" cy="4571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 name="CuadroTexto 1">
            <a:extLst>
              <a:ext uri="{FF2B5EF4-FFF2-40B4-BE49-F238E27FC236}">
                <a16:creationId xmlns:a16="http://schemas.microsoft.com/office/drawing/2014/main" id="{4B0DA681-3E61-4332-8163-E85E87A0B22A}"/>
              </a:ext>
            </a:extLst>
          </p:cNvPr>
          <p:cNvSpPr txBox="1"/>
          <p:nvPr/>
        </p:nvSpPr>
        <p:spPr>
          <a:xfrm>
            <a:off x="2594342" y="3430857"/>
            <a:ext cx="3955311" cy="276999"/>
          </a:xfrm>
          <a:prstGeom prst="rect">
            <a:avLst/>
          </a:prstGeom>
          <a:noFill/>
        </p:spPr>
        <p:txBody>
          <a:bodyPr wrap="square" rtlCol="0">
            <a:spAutoFit/>
          </a:bodyPr>
          <a:lstStyle/>
          <a:p>
            <a:pPr algn="ctr"/>
            <a:r>
              <a:rPr lang="es-CO" sz="1200" dirty="0">
                <a:hlinkClick r:id="rId2" action="ppaction://hlinkfile"/>
              </a:rPr>
              <a:t>VER LEVANTAMIENTO DE INFORMACION</a:t>
            </a:r>
            <a:endParaRPr lang="es-CO" sz="1200" dirty="0"/>
          </a:p>
        </p:txBody>
      </p:sp>
    </p:spTree>
    <p:extLst>
      <p:ext uri="{BB962C8B-B14F-4D97-AF65-F5344CB8AC3E}">
        <p14:creationId xmlns:p14="http://schemas.microsoft.com/office/powerpoint/2010/main" val="3156818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E70772CD-9D3C-429F-B454-5CBDFE969938}"/>
              </a:ext>
            </a:extLst>
          </p:cNvPr>
          <p:cNvSpPr txBox="1"/>
          <p:nvPr/>
        </p:nvSpPr>
        <p:spPr>
          <a:xfrm>
            <a:off x="2286000" y="230004"/>
            <a:ext cx="4572000" cy="1569660"/>
          </a:xfrm>
          <a:prstGeom prst="rect">
            <a:avLst/>
          </a:prstGeom>
          <a:noFill/>
        </p:spPr>
        <p:txBody>
          <a:bodyPr wrap="square">
            <a:spAutoFit/>
          </a:bodyPr>
          <a:lstStyle/>
          <a:p>
            <a:pPr algn="ctr"/>
            <a:r>
              <a:rPr lang="es-CO" sz="4800" b="1" dirty="0">
                <a:solidFill>
                  <a:schemeClr val="tx1">
                    <a:lumMod val="75000"/>
                    <a:lumOff val="25000"/>
                  </a:schemeClr>
                </a:solidFill>
              </a:rPr>
              <a:t>CONTROL DE VERSIONES</a:t>
            </a:r>
            <a:endParaRPr lang="es-CO" sz="4800" dirty="0"/>
          </a:p>
        </p:txBody>
      </p:sp>
      <p:sp>
        <p:nvSpPr>
          <p:cNvPr id="4" name="Rectángulo 3">
            <a:extLst>
              <a:ext uri="{FF2B5EF4-FFF2-40B4-BE49-F238E27FC236}">
                <a16:creationId xmlns:a16="http://schemas.microsoft.com/office/drawing/2014/main" id="{6757BE42-0EFE-469A-8603-7BE73ECA9CD2}"/>
              </a:ext>
            </a:extLst>
          </p:cNvPr>
          <p:cNvSpPr/>
          <p:nvPr/>
        </p:nvSpPr>
        <p:spPr>
          <a:xfrm flipV="1">
            <a:off x="3723700" y="1861197"/>
            <a:ext cx="1696597" cy="4571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5" name="CuadroTexto 4">
            <a:extLst>
              <a:ext uri="{FF2B5EF4-FFF2-40B4-BE49-F238E27FC236}">
                <a16:creationId xmlns:a16="http://schemas.microsoft.com/office/drawing/2014/main" id="{50FE2ED5-380F-413C-830B-5601927DDE82}"/>
              </a:ext>
            </a:extLst>
          </p:cNvPr>
          <p:cNvSpPr txBox="1"/>
          <p:nvPr/>
        </p:nvSpPr>
        <p:spPr>
          <a:xfrm>
            <a:off x="2594342" y="3430857"/>
            <a:ext cx="3955311" cy="276999"/>
          </a:xfrm>
          <a:prstGeom prst="rect">
            <a:avLst/>
          </a:prstGeom>
          <a:noFill/>
        </p:spPr>
        <p:txBody>
          <a:bodyPr wrap="square" rtlCol="0">
            <a:spAutoFit/>
          </a:bodyPr>
          <a:lstStyle/>
          <a:p>
            <a:pPr algn="ctr"/>
            <a:r>
              <a:rPr lang="es-CO" sz="1200" dirty="0">
                <a:hlinkClick r:id="rId2"/>
              </a:rPr>
              <a:t>CONTROL DE VERSI0NES EN GIT HUB</a:t>
            </a:r>
            <a:endParaRPr lang="es-CO" sz="1200" dirty="0"/>
          </a:p>
        </p:txBody>
      </p:sp>
    </p:spTree>
    <p:extLst>
      <p:ext uri="{BB962C8B-B14F-4D97-AF65-F5344CB8AC3E}">
        <p14:creationId xmlns:p14="http://schemas.microsoft.com/office/powerpoint/2010/main" val="558455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D0A12653-07B0-49B1-B1C3-0895AD419D85}"/>
              </a:ext>
            </a:extLst>
          </p:cNvPr>
          <p:cNvSpPr txBox="1"/>
          <p:nvPr/>
        </p:nvSpPr>
        <p:spPr>
          <a:xfrm>
            <a:off x="2286000" y="123678"/>
            <a:ext cx="4572000" cy="1938992"/>
          </a:xfrm>
          <a:prstGeom prst="rect">
            <a:avLst/>
          </a:prstGeom>
          <a:noFill/>
        </p:spPr>
        <p:txBody>
          <a:bodyPr wrap="square">
            <a:spAutoFit/>
          </a:bodyPr>
          <a:lstStyle/>
          <a:p>
            <a:pPr algn="ctr"/>
            <a:r>
              <a:rPr lang="es-CO" sz="4000" b="1" dirty="0">
                <a:solidFill>
                  <a:schemeClr val="tx1">
                    <a:lumMod val="75000"/>
                    <a:lumOff val="25000"/>
                  </a:schemeClr>
                </a:solidFill>
              </a:rPr>
              <a:t>REQUERIMIENTOS FUNCIONALES Y NO FUNCIONALES</a:t>
            </a:r>
            <a:endParaRPr lang="es-CO" sz="4000" dirty="0"/>
          </a:p>
        </p:txBody>
      </p:sp>
      <p:sp>
        <p:nvSpPr>
          <p:cNvPr id="4" name="Rectángulo 3">
            <a:extLst>
              <a:ext uri="{FF2B5EF4-FFF2-40B4-BE49-F238E27FC236}">
                <a16:creationId xmlns:a16="http://schemas.microsoft.com/office/drawing/2014/main" id="{08F040CC-0740-4745-9183-0A315497D244}"/>
              </a:ext>
            </a:extLst>
          </p:cNvPr>
          <p:cNvSpPr/>
          <p:nvPr/>
        </p:nvSpPr>
        <p:spPr>
          <a:xfrm flipV="1">
            <a:off x="3723701" y="2016951"/>
            <a:ext cx="1696597" cy="4571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 name="CuadroTexto 1">
            <a:extLst>
              <a:ext uri="{FF2B5EF4-FFF2-40B4-BE49-F238E27FC236}">
                <a16:creationId xmlns:a16="http://schemas.microsoft.com/office/drawing/2014/main" id="{F663AC23-A7AB-4B5D-9F3D-41A1CFC3C9C8}"/>
              </a:ext>
            </a:extLst>
          </p:cNvPr>
          <p:cNvSpPr txBox="1"/>
          <p:nvPr/>
        </p:nvSpPr>
        <p:spPr>
          <a:xfrm>
            <a:off x="2195622" y="3059566"/>
            <a:ext cx="4752754" cy="307777"/>
          </a:xfrm>
          <a:prstGeom prst="rect">
            <a:avLst/>
          </a:prstGeom>
          <a:noFill/>
        </p:spPr>
        <p:txBody>
          <a:bodyPr wrap="square" rtlCol="0">
            <a:spAutoFit/>
          </a:bodyPr>
          <a:lstStyle/>
          <a:p>
            <a:pPr algn="ctr"/>
            <a:r>
              <a:rPr lang="es-CO" sz="1400" dirty="0">
                <a:hlinkClick r:id="rId2" action="ppaction://hlinkfile"/>
              </a:rPr>
              <a:t>Ver requerimientos funcionales y no funcionales</a:t>
            </a:r>
            <a:endParaRPr lang="es-CO" sz="1400" dirty="0"/>
          </a:p>
        </p:txBody>
      </p:sp>
    </p:spTree>
    <p:extLst>
      <p:ext uri="{BB962C8B-B14F-4D97-AF65-F5344CB8AC3E}">
        <p14:creationId xmlns:p14="http://schemas.microsoft.com/office/powerpoint/2010/main" val="4477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622D0C6-B36D-4EE0-89F2-DD0438386CA1}"/>
              </a:ext>
            </a:extLst>
          </p:cNvPr>
          <p:cNvSpPr txBox="1"/>
          <p:nvPr/>
        </p:nvSpPr>
        <p:spPr>
          <a:xfrm>
            <a:off x="2286000" y="134311"/>
            <a:ext cx="4572000" cy="707886"/>
          </a:xfrm>
          <a:prstGeom prst="rect">
            <a:avLst/>
          </a:prstGeom>
          <a:noFill/>
        </p:spPr>
        <p:txBody>
          <a:bodyPr wrap="square">
            <a:spAutoFit/>
          </a:bodyPr>
          <a:lstStyle/>
          <a:p>
            <a:pPr algn="ctr"/>
            <a:r>
              <a:rPr lang="es-CO" sz="4000" b="1" dirty="0">
                <a:solidFill>
                  <a:schemeClr val="tx1">
                    <a:lumMod val="75000"/>
                    <a:lumOff val="25000"/>
                  </a:schemeClr>
                </a:solidFill>
              </a:rPr>
              <a:t>CASOS DE USOS</a:t>
            </a:r>
            <a:endParaRPr lang="es-CO" sz="4000" dirty="0"/>
          </a:p>
        </p:txBody>
      </p:sp>
      <p:sp>
        <p:nvSpPr>
          <p:cNvPr id="4" name="Rectángulo 3">
            <a:extLst>
              <a:ext uri="{FF2B5EF4-FFF2-40B4-BE49-F238E27FC236}">
                <a16:creationId xmlns:a16="http://schemas.microsoft.com/office/drawing/2014/main" id="{D2CB90E4-07FB-4547-968B-CD5D1168D6E7}"/>
              </a:ext>
            </a:extLst>
          </p:cNvPr>
          <p:cNvSpPr/>
          <p:nvPr/>
        </p:nvSpPr>
        <p:spPr>
          <a:xfrm flipV="1">
            <a:off x="3723701" y="842696"/>
            <a:ext cx="1696597" cy="4571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5" name="CuadroTexto 4">
            <a:extLst>
              <a:ext uri="{FF2B5EF4-FFF2-40B4-BE49-F238E27FC236}">
                <a16:creationId xmlns:a16="http://schemas.microsoft.com/office/drawing/2014/main" id="{6F758146-235C-46AE-94D6-306DF1E8E7DF}"/>
              </a:ext>
            </a:extLst>
          </p:cNvPr>
          <p:cNvSpPr txBox="1"/>
          <p:nvPr/>
        </p:nvSpPr>
        <p:spPr>
          <a:xfrm>
            <a:off x="2335512" y="3081642"/>
            <a:ext cx="4752754" cy="307777"/>
          </a:xfrm>
          <a:prstGeom prst="rect">
            <a:avLst/>
          </a:prstGeom>
          <a:noFill/>
        </p:spPr>
        <p:txBody>
          <a:bodyPr wrap="square" rtlCol="0">
            <a:spAutoFit/>
          </a:bodyPr>
          <a:lstStyle/>
          <a:p>
            <a:pPr algn="ctr"/>
            <a:r>
              <a:rPr lang="es-CO" sz="1400" dirty="0">
                <a:hlinkClick r:id="rId2" action="ppaction://hlinkfile"/>
              </a:rPr>
              <a:t>DIAGRAMA DE CASOS DE USOS</a:t>
            </a:r>
            <a:endParaRPr lang="es-CO" sz="1400" dirty="0"/>
          </a:p>
        </p:txBody>
      </p:sp>
    </p:spTree>
    <p:extLst>
      <p:ext uri="{BB962C8B-B14F-4D97-AF65-F5344CB8AC3E}">
        <p14:creationId xmlns:p14="http://schemas.microsoft.com/office/powerpoint/2010/main" val="376903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F08C00B0-C326-48AE-B982-9F20B14C647B}"/>
              </a:ext>
            </a:extLst>
          </p:cNvPr>
          <p:cNvSpPr txBox="1"/>
          <p:nvPr/>
        </p:nvSpPr>
        <p:spPr>
          <a:xfrm>
            <a:off x="2286000" y="123678"/>
            <a:ext cx="4572000" cy="1323439"/>
          </a:xfrm>
          <a:prstGeom prst="rect">
            <a:avLst/>
          </a:prstGeom>
          <a:noFill/>
        </p:spPr>
        <p:txBody>
          <a:bodyPr wrap="square">
            <a:spAutoFit/>
          </a:bodyPr>
          <a:lstStyle/>
          <a:p>
            <a:pPr algn="ctr"/>
            <a:r>
              <a:rPr lang="es-CO" sz="4000" b="1" dirty="0">
                <a:solidFill>
                  <a:schemeClr val="tx1">
                    <a:lumMod val="75000"/>
                    <a:lumOff val="25000"/>
                  </a:schemeClr>
                </a:solidFill>
              </a:rPr>
              <a:t>CASOS DE USO EXTENDIDOS</a:t>
            </a:r>
            <a:endParaRPr lang="es-CO" sz="4000" dirty="0"/>
          </a:p>
        </p:txBody>
      </p:sp>
      <p:sp>
        <p:nvSpPr>
          <p:cNvPr id="4" name="Rectángulo 3">
            <a:extLst>
              <a:ext uri="{FF2B5EF4-FFF2-40B4-BE49-F238E27FC236}">
                <a16:creationId xmlns:a16="http://schemas.microsoft.com/office/drawing/2014/main" id="{C2E2BA57-8D5E-4684-B32D-3C2F10311631}"/>
              </a:ext>
            </a:extLst>
          </p:cNvPr>
          <p:cNvSpPr/>
          <p:nvPr/>
        </p:nvSpPr>
        <p:spPr>
          <a:xfrm flipV="1">
            <a:off x="3723700" y="1447117"/>
            <a:ext cx="1696597" cy="4571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5" name="CuadroTexto 4">
            <a:extLst>
              <a:ext uri="{FF2B5EF4-FFF2-40B4-BE49-F238E27FC236}">
                <a16:creationId xmlns:a16="http://schemas.microsoft.com/office/drawing/2014/main" id="{2B896BD4-E32B-4867-8723-0784DB1DADCB}"/>
              </a:ext>
            </a:extLst>
          </p:cNvPr>
          <p:cNvSpPr txBox="1"/>
          <p:nvPr/>
        </p:nvSpPr>
        <p:spPr>
          <a:xfrm>
            <a:off x="2335512" y="3081642"/>
            <a:ext cx="4752754" cy="307777"/>
          </a:xfrm>
          <a:prstGeom prst="rect">
            <a:avLst/>
          </a:prstGeom>
          <a:noFill/>
        </p:spPr>
        <p:txBody>
          <a:bodyPr wrap="square" rtlCol="0">
            <a:spAutoFit/>
          </a:bodyPr>
          <a:lstStyle/>
          <a:p>
            <a:pPr algn="ctr"/>
            <a:r>
              <a:rPr lang="es-CO" sz="1400" dirty="0">
                <a:hlinkClick r:id="rId2" action="ppaction://hlinkfile"/>
              </a:rPr>
              <a:t>DIAGRAMA DE CASOS DE USO EXTENDIDO</a:t>
            </a:r>
            <a:endParaRPr lang="es-CO" sz="1400" dirty="0"/>
          </a:p>
        </p:txBody>
      </p:sp>
    </p:spTree>
    <p:extLst>
      <p:ext uri="{BB962C8B-B14F-4D97-AF65-F5344CB8AC3E}">
        <p14:creationId xmlns:p14="http://schemas.microsoft.com/office/powerpoint/2010/main" val="3680965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59A8AC2F-5CC7-4C82-BA96-CBB79F0EAD1B}"/>
              </a:ext>
            </a:extLst>
          </p:cNvPr>
          <p:cNvSpPr txBox="1"/>
          <p:nvPr/>
        </p:nvSpPr>
        <p:spPr>
          <a:xfrm>
            <a:off x="2286000" y="123678"/>
            <a:ext cx="4572000" cy="1323439"/>
          </a:xfrm>
          <a:prstGeom prst="rect">
            <a:avLst/>
          </a:prstGeom>
          <a:noFill/>
        </p:spPr>
        <p:txBody>
          <a:bodyPr wrap="square">
            <a:spAutoFit/>
          </a:bodyPr>
          <a:lstStyle/>
          <a:p>
            <a:pPr algn="ctr"/>
            <a:r>
              <a:rPr lang="es-CO" sz="4000" b="1" dirty="0">
                <a:solidFill>
                  <a:schemeClr val="tx1">
                    <a:lumMod val="75000"/>
                    <a:lumOff val="25000"/>
                  </a:schemeClr>
                </a:solidFill>
              </a:rPr>
              <a:t>MODELO ENTIDAD RELACION</a:t>
            </a:r>
            <a:endParaRPr lang="es-CO" sz="4000" dirty="0"/>
          </a:p>
        </p:txBody>
      </p:sp>
      <p:sp>
        <p:nvSpPr>
          <p:cNvPr id="4" name="Rectángulo 3">
            <a:extLst>
              <a:ext uri="{FF2B5EF4-FFF2-40B4-BE49-F238E27FC236}">
                <a16:creationId xmlns:a16="http://schemas.microsoft.com/office/drawing/2014/main" id="{05F1B5F6-2B3F-451A-89AB-7DE5C392E4FA}"/>
              </a:ext>
            </a:extLst>
          </p:cNvPr>
          <p:cNvSpPr/>
          <p:nvPr/>
        </p:nvSpPr>
        <p:spPr>
          <a:xfrm flipV="1">
            <a:off x="3723700" y="1447117"/>
            <a:ext cx="1696597" cy="4571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 name="CuadroTexto 1">
            <a:extLst>
              <a:ext uri="{FF2B5EF4-FFF2-40B4-BE49-F238E27FC236}">
                <a16:creationId xmlns:a16="http://schemas.microsoft.com/office/drawing/2014/main" id="{41F0C6A6-BB89-4512-BFFD-7F00939D1A15}"/>
              </a:ext>
            </a:extLst>
          </p:cNvPr>
          <p:cNvSpPr txBox="1"/>
          <p:nvPr/>
        </p:nvSpPr>
        <p:spPr>
          <a:xfrm>
            <a:off x="2339161" y="2737847"/>
            <a:ext cx="4465674" cy="307777"/>
          </a:xfrm>
          <a:prstGeom prst="rect">
            <a:avLst/>
          </a:prstGeom>
          <a:noFill/>
        </p:spPr>
        <p:txBody>
          <a:bodyPr wrap="square" rtlCol="0">
            <a:spAutoFit/>
          </a:bodyPr>
          <a:lstStyle/>
          <a:p>
            <a:pPr algn="ctr"/>
            <a:r>
              <a:rPr lang="es-CO" sz="1400" dirty="0">
                <a:hlinkClick r:id="rId2" action="ppaction://hlinkfile"/>
              </a:rPr>
              <a:t>MODELO ENTIDAD RELACION</a:t>
            </a:r>
            <a:endParaRPr lang="es-CO" sz="1400" dirty="0"/>
          </a:p>
        </p:txBody>
      </p:sp>
    </p:spTree>
    <p:extLst>
      <p:ext uri="{BB962C8B-B14F-4D97-AF65-F5344CB8AC3E}">
        <p14:creationId xmlns:p14="http://schemas.microsoft.com/office/powerpoint/2010/main" val="4277609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F9DF0B84-F293-4628-B89D-1F4622DFECE2}"/>
              </a:ext>
            </a:extLst>
          </p:cNvPr>
          <p:cNvSpPr txBox="1"/>
          <p:nvPr/>
        </p:nvSpPr>
        <p:spPr>
          <a:xfrm>
            <a:off x="2286000" y="123679"/>
            <a:ext cx="4572000" cy="1323439"/>
          </a:xfrm>
          <a:prstGeom prst="rect">
            <a:avLst/>
          </a:prstGeom>
          <a:noFill/>
        </p:spPr>
        <p:txBody>
          <a:bodyPr wrap="square">
            <a:spAutoFit/>
          </a:bodyPr>
          <a:lstStyle/>
          <a:p>
            <a:pPr algn="ctr"/>
            <a:r>
              <a:rPr lang="es-CO" sz="4000" b="1" dirty="0">
                <a:solidFill>
                  <a:schemeClr val="tx1">
                    <a:lumMod val="75000"/>
                    <a:lumOff val="25000"/>
                  </a:schemeClr>
                </a:solidFill>
              </a:rPr>
              <a:t>DIAGRAMA DE GANTT</a:t>
            </a:r>
            <a:endParaRPr lang="es-CO" sz="4000" dirty="0"/>
          </a:p>
        </p:txBody>
      </p:sp>
      <p:sp>
        <p:nvSpPr>
          <p:cNvPr id="4" name="Rectángulo 3">
            <a:extLst>
              <a:ext uri="{FF2B5EF4-FFF2-40B4-BE49-F238E27FC236}">
                <a16:creationId xmlns:a16="http://schemas.microsoft.com/office/drawing/2014/main" id="{94A65BCD-E6D4-4144-B7D1-7D0C8FFA6564}"/>
              </a:ext>
            </a:extLst>
          </p:cNvPr>
          <p:cNvSpPr/>
          <p:nvPr/>
        </p:nvSpPr>
        <p:spPr>
          <a:xfrm flipV="1">
            <a:off x="3723701" y="1447118"/>
            <a:ext cx="1696597" cy="4571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5" name="CuadroTexto 4">
            <a:extLst>
              <a:ext uri="{FF2B5EF4-FFF2-40B4-BE49-F238E27FC236}">
                <a16:creationId xmlns:a16="http://schemas.microsoft.com/office/drawing/2014/main" id="{0575B843-D51E-4C22-BFDC-CD65CD505F78}"/>
              </a:ext>
            </a:extLst>
          </p:cNvPr>
          <p:cNvSpPr txBox="1"/>
          <p:nvPr/>
        </p:nvSpPr>
        <p:spPr>
          <a:xfrm>
            <a:off x="2339161" y="3162436"/>
            <a:ext cx="4465674" cy="307777"/>
          </a:xfrm>
          <a:prstGeom prst="rect">
            <a:avLst/>
          </a:prstGeom>
          <a:noFill/>
        </p:spPr>
        <p:txBody>
          <a:bodyPr wrap="square" rtlCol="0">
            <a:spAutoFit/>
          </a:bodyPr>
          <a:lstStyle/>
          <a:p>
            <a:pPr algn="ctr"/>
            <a:r>
              <a:rPr lang="es-CO" sz="1400" dirty="0">
                <a:hlinkClick r:id="rId2" action="ppaction://hlinkfile"/>
              </a:rPr>
              <a:t>DIAGRAMA DE GANTT</a:t>
            </a:r>
            <a:endParaRPr lang="es-CO" sz="1400" dirty="0"/>
          </a:p>
        </p:txBody>
      </p:sp>
    </p:spTree>
    <p:extLst>
      <p:ext uri="{BB962C8B-B14F-4D97-AF65-F5344CB8AC3E}">
        <p14:creationId xmlns:p14="http://schemas.microsoft.com/office/powerpoint/2010/main" val="2506038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F9DF0B84-F293-4628-B89D-1F4622DFECE2}"/>
              </a:ext>
            </a:extLst>
          </p:cNvPr>
          <p:cNvSpPr txBox="1"/>
          <p:nvPr/>
        </p:nvSpPr>
        <p:spPr>
          <a:xfrm>
            <a:off x="2286000" y="123679"/>
            <a:ext cx="4572000" cy="1323439"/>
          </a:xfrm>
          <a:prstGeom prst="rect">
            <a:avLst/>
          </a:prstGeom>
          <a:noFill/>
        </p:spPr>
        <p:txBody>
          <a:bodyPr wrap="square">
            <a:spAutoFit/>
          </a:bodyPr>
          <a:lstStyle/>
          <a:p>
            <a:pPr algn="ctr"/>
            <a:r>
              <a:rPr lang="es-CO" sz="4000" b="1" dirty="0">
                <a:solidFill>
                  <a:schemeClr val="tx1">
                    <a:lumMod val="75000"/>
                    <a:lumOff val="25000"/>
                  </a:schemeClr>
                </a:solidFill>
              </a:rPr>
              <a:t>DIAGRAMA DE CLASES</a:t>
            </a:r>
            <a:endParaRPr lang="es-CO" sz="4000" dirty="0"/>
          </a:p>
        </p:txBody>
      </p:sp>
      <p:sp>
        <p:nvSpPr>
          <p:cNvPr id="4" name="Rectángulo 3">
            <a:extLst>
              <a:ext uri="{FF2B5EF4-FFF2-40B4-BE49-F238E27FC236}">
                <a16:creationId xmlns:a16="http://schemas.microsoft.com/office/drawing/2014/main" id="{94A65BCD-E6D4-4144-B7D1-7D0C8FFA6564}"/>
              </a:ext>
            </a:extLst>
          </p:cNvPr>
          <p:cNvSpPr/>
          <p:nvPr/>
        </p:nvSpPr>
        <p:spPr>
          <a:xfrm flipV="1">
            <a:off x="3723701" y="1447118"/>
            <a:ext cx="1696597" cy="4571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 name="CuadroTexto 1">
            <a:extLst>
              <a:ext uri="{FF2B5EF4-FFF2-40B4-BE49-F238E27FC236}">
                <a16:creationId xmlns:a16="http://schemas.microsoft.com/office/drawing/2014/main" id="{085C4C01-85AB-42ED-9FBF-8C70D0B33681}"/>
              </a:ext>
            </a:extLst>
          </p:cNvPr>
          <p:cNvSpPr txBox="1"/>
          <p:nvPr/>
        </p:nvSpPr>
        <p:spPr>
          <a:xfrm>
            <a:off x="2514599" y="3265407"/>
            <a:ext cx="4114800" cy="307777"/>
          </a:xfrm>
          <a:prstGeom prst="rect">
            <a:avLst/>
          </a:prstGeom>
          <a:noFill/>
        </p:spPr>
        <p:txBody>
          <a:bodyPr wrap="square" rtlCol="0">
            <a:spAutoFit/>
          </a:bodyPr>
          <a:lstStyle/>
          <a:p>
            <a:pPr algn="ctr"/>
            <a:r>
              <a:rPr lang="es-CO" sz="1400" dirty="0">
                <a:hlinkClick r:id="rId2" action="ppaction://hlinkfile"/>
              </a:rPr>
              <a:t>DIAGRAMA DE CLASES </a:t>
            </a:r>
            <a:endParaRPr lang="es-CO" sz="1400" dirty="0"/>
          </a:p>
        </p:txBody>
      </p:sp>
    </p:spTree>
    <p:extLst>
      <p:ext uri="{BB962C8B-B14F-4D97-AF65-F5344CB8AC3E}">
        <p14:creationId xmlns:p14="http://schemas.microsoft.com/office/powerpoint/2010/main" val="683782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F9DF0B84-F293-4628-B89D-1F4622DFECE2}"/>
              </a:ext>
            </a:extLst>
          </p:cNvPr>
          <p:cNvSpPr txBox="1"/>
          <p:nvPr/>
        </p:nvSpPr>
        <p:spPr>
          <a:xfrm>
            <a:off x="1820916" y="169398"/>
            <a:ext cx="5502166" cy="1323439"/>
          </a:xfrm>
          <a:prstGeom prst="rect">
            <a:avLst/>
          </a:prstGeom>
          <a:noFill/>
        </p:spPr>
        <p:txBody>
          <a:bodyPr wrap="square">
            <a:spAutoFit/>
          </a:bodyPr>
          <a:lstStyle/>
          <a:p>
            <a:pPr algn="ctr"/>
            <a:r>
              <a:rPr lang="es-CO" sz="4000" b="1" dirty="0">
                <a:solidFill>
                  <a:schemeClr val="tx1">
                    <a:lumMod val="75000"/>
                    <a:lumOff val="25000"/>
                  </a:schemeClr>
                </a:solidFill>
              </a:rPr>
              <a:t>MOCKUPS/WIREFRAMES JINRO</a:t>
            </a:r>
            <a:endParaRPr lang="es-CO" sz="4000" dirty="0"/>
          </a:p>
        </p:txBody>
      </p:sp>
      <p:sp>
        <p:nvSpPr>
          <p:cNvPr id="4" name="Rectángulo 3">
            <a:extLst>
              <a:ext uri="{FF2B5EF4-FFF2-40B4-BE49-F238E27FC236}">
                <a16:creationId xmlns:a16="http://schemas.microsoft.com/office/drawing/2014/main" id="{94A65BCD-E6D4-4144-B7D1-7D0C8FFA6564}"/>
              </a:ext>
            </a:extLst>
          </p:cNvPr>
          <p:cNvSpPr/>
          <p:nvPr/>
        </p:nvSpPr>
        <p:spPr>
          <a:xfrm flipV="1">
            <a:off x="3723701" y="1447118"/>
            <a:ext cx="1696597" cy="4571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 name="CuadroTexto 1">
            <a:extLst>
              <a:ext uri="{FF2B5EF4-FFF2-40B4-BE49-F238E27FC236}">
                <a16:creationId xmlns:a16="http://schemas.microsoft.com/office/drawing/2014/main" id="{085C4C01-85AB-42ED-9FBF-8C70D0B33681}"/>
              </a:ext>
            </a:extLst>
          </p:cNvPr>
          <p:cNvSpPr txBox="1"/>
          <p:nvPr/>
        </p:nvSpPr>
        <p:spPr>
          <a:xfrm>
            <a:off x="2514599" y="3265407"/>
            <a:ext cx="4114800" cy="307777"/>
          </a:xfrm>
          <a:prstGeom prst="rect">
            <a:avLst/>
          </a:prstGeom>
          <a:noFill/>
        </p:spPr>
        <p:txBody>
          <a:bodyPr wrap="square" rtlCol="0">
            <a:spAutoFit/>
          </a:bodyPr>
          <a:lstStyle/>
          <a:p>
            <a:pPr algn="ctr"/>
            <a:r>
              <a:rPr lang="es-CO" sz="1400" dirty="0">
                <a:hlinkClick r:id="rId2" action="ppaction://hlinkfile"/>
              </a:rPr>
              <a:t>DISEÑO DE MOCKUPS/WIREFRAMES JINRO</a:t>
            </a:r>
            <a:endParaRPr lang="es-CO" sz="1400" dirty="0"/>
          </a:p>
        </p:txBody>
      </p:sp>
    </p:spTree>
    <p:extLst>
      <p:ext uri="{BB962C8B-B14F-4D97-AF65-F5344CB8AC3E}">
        <p14:creationId xmlns:p14="http://schemas.microsoft.com/office/powerpoint/2010/main" val="2542866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F9DF0B84-F293-4628-B89D-1F4622DFECE2}"/>
              </a:ext>
            </a:extLst>
          </p:cNvPr>
          <p:cNvSpPr txBox="1"/>
          <p:nvPr/>
        </p:nvSpPr>
        <p:spPr>
          <a:xfrm>
            <a:off x="2286000" y="123679"/>
            <a:ext cx="4572000" cy="1323439"/>
          </a:xfrm>
          <a:prstGeom prst="rect">
            <a:avLst/>
          </a:prstGeom>
          <a:noFill/>
        </p:spPr>
        <p:txBody>
          <a:bodyPr wrap="square">
            <a:spAutoFit/>
          </a:bodyPr>
          <a:lstStyle/>
          <a:p>
            <a:pPr algn="ctr"/>
            <a:r>
              <a:rPr lang="es-CO" sz="4000" b="1" dirty="0">
                <a:solidFill>
                  <a:schemeClr val="tx1">
                    <a:lumMod val="75000"/>
                    <a:lumOff val="25000"/>
                  </a:schemeClr>
                </a:solidFill>
              </a:rPr>
              <a:t>DIAGRAMA RELACIONAL</a:t>
            </a:r>
            <a:endParaRPr lang="es-CO" sz="4000" dirty="0"/>
          </a:p>
        </p:txBody>
      </p:sp>
      <p:sp>
        <p:nvSpPr>
          <p:cNvPr id="4" name="Rectángulo 3">
            <a:extLst>
              <a:ext uri="{FF2B5EF4-FFF2-40B4-BE49-F238E27FC236}">
                <a16:creationId xmlns:a16="http://schemas.microsoft.com/office/drawing/2014/main" id="{94A65BCD-E6D4-4144-B7D1-7D0C8FFA6564}"/>
              </a:ext>
            </a:extLst>
          </p:cNvPr>
          <p:cNvSpPr/>
          <p:nvPr/>
        </p:nvSpPr>
        <p:spPr>
          <a:xfrm flipV="1">
            <a:off x="3723701" y="1447118"/>
            <a:ext cx="1696597" cy="4571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 name="CuadroTexto 1">
            <a:extLst>
              <a:ext uri="{FF2B5EF4-FFF2-40B4-BE49-F238E27FC236}">
                <a16:creationId xmlns:a16="http://schemas.microsoft.com/office/drawing/2014/main" id="{085C4C01-85AB-42ED-9FBF-8C70D0B33681}"/>
              </a:ext>
            </a:extLst>
          </p:cNvPr>
          <p:cNvSpPr txBox="1"/>
          <p:nvPr/>
        </p:nvSpPr>
        <p:spPr>
          <a:xfrm>
            <a:off x="2514599" y="3265407"/>
            <a:ext cx="4114800" cy="307777"/>
          </a:xfrm>
          <a:prstGeom prst="rect">
            <a:avLst/>
          </a:prstGeom>
          <a:noFill/>
        </p:spPr>
        <p:txBody>
          <a:bodyPr wrap="square" rtlCol="0">
            <a:spAutoFit/>
          </a:bodyPr>
          <a:lstStyle/>
          <a:p>
            <a:pPr algn="ctr"/>
            <a:r>
              <a:rPr lang="es-CO" sz="1400" dirty="0">
                <a:hlinkClick r:id="rId2" action="ppaction://hlinkfile"/>
              </a:rPr>
              <a:t>DIAGRAMA RELACIONAL DE JINRO </a:t>
            </a:r>
            <a:endParaRPr lang="es-CO" sz="1400" dirty="0"/>
          </a:p>
        </p:txBody>
      </p:sp>
    </p:spTree>
    <p:extLst>
      <p:ext uri="{BB962C8B-B14F-4D97-AF65-F5344CB8AC3E}">
        <p14:creationId xmlns:p14="http://schemas.microsoft.com/office/powerpoint/2010/main" val="2824221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F9DF0B84-F293-4628-B89D-1F4622DFECE2}"/>
              </a:ext>
            </a:extLst>
          </p:cNvPr>
          <p:cNvSpPr txBox="1"/>
          <p:nvPr/>
        </p:nvSpPr>
        <p:spPr>
          <a:xfrm>
            <a:off x="2286000" y="123679"/>
            <a:ext cx="4572000" cy="1323439"/>
          </a:xfrm>
          <a:prstGeom prst="rect">
            <a:avLst/>
          </a:prstGeom>
          <a:noFill/>
        </p:spPr>
        <p:txBody>
          <a:bodyPr wrap="square">
            <a:spAutoFit/>
          </a:bodyPr>
          <a:lstStyle/>
          <a:p>
            <a:pPr algn="ctr"/>
            <a:r>
              <a:rPr lang="es-CO" sz="4000" b="1" dirty="0">
                <a:solidFill>
                  <a:schemeClr val="tx1">
                    <a:lumMod val="75000"/>
                    <a:lumOff val="25000"/>
                  </a:schemeClr>
                </a:solidFill>
              </a:rPr>
              <a:t>DICCIONARIO DE DATOS</a:t>
            </a:r>
            <a:endParaRPr lang="es-CO" sz="4000" dirty="0"/>
          </a:p>
        </p:txBody>
      </p:sp>
      <p:sp>
        <p:nvSpPr>
          <p:cNvPr id="4" name="Rectángulo 3">
            <a:extLst>
              <a:ext uri="{FF2B5EF4-FFF2-40B4-BE49-F238E27FC236}">
                <a16:creationId xmlns:a16="http://schemas.microsoft.com/office/drawing/2014/main" id="{94A65BCD-E6D4-4144-B7D1-7D0C8FFA6564}"/>
              </a:ext>
            </a:extLst>
          </p:cNvPr>
          <p:cNvSpPr/>
          <p:nvPr/>
        </p:nvSpPr>
        <p:spPr>
          <a:xfrm flipV="1">
            <a:off x="3723701" y="1447118"/>
            <a:ext cx="1696597" cy="4571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 name="CuadroTexto 1">
            <a:extLst>
              <a:ext uri="{FF2B5EF4-FFF2-40B4-BE49-F238E27FC236}">
                <a16:creationId xmlns:a16="http://schemas.microsoft.com/office/drawing/2014/main" id="{085C4C01-85AB-42ED-9FBF-8C70D0B33681}"/>
              </a:ext>
            </a:extLst>
          </p:cNvPr>
          <p:cNvSpPr txBox="1"/>
          <p:nvPr/>
        </p:nvSpPr>
        <p:spPr>
          <a:xfrm>
            <a:off x="2514599" y="3265407"/>
            <a:ext cx="4114800" cy="307777"/>
          </a:xfrm>
          <a:prstGeom prst="rect">
            <a:avLst/>
          </a:prstGeom>
          <a:noFill/>
        </p:spPr>
        <p:txBody>
          <a:bodyPr wrap="square" rtlCol="0">
            <a:spAutoFit/>
          </a:bodyPr>
          <a:lstStyle/>
          <a:p>
            <a:pPr algn="ctr"/>
            <a:r>
              <a:rPr lang="es-CO" sz="1400" dirty="0">
                <a:hlinkClick r:id="rId2" action="ppaction://hlinkfile"/>
              </a:rPr>
              <a:t>DICCIONARIO DE DATOS  </a:t>
            </a:r>
            <a:endParaRPr lang="es-CO" sz="1400" dirty="0"/>
          </a:p>
        </p:txBody>
      </p:sp>
    </p:spTree>
    <p:extLst>
      <p:ext uri="{BB962C8B-B14F-4D97-AF65-F5344CB8AC3E}">
        <p14:creationId xmlns:p14="http://schemas.microsoft.com/office/powerpoint/2010/main" val="3816213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F9DF0B84-F293-4628-B89D-1F4622DFECE2}"/>
              </a:ext>
            </a:extLst>
          </p:cNvPr>
          <p:cNvSpPr txBox="1"/>
          <p:nvPr/>
        </p:nvSpPr>
        <p:spPr>
          <a:xfrm>
            <a:off x="2286000" y="123679"/>
            <a:ext cx="4572000" cy="707886"/>
          </a:xfrm>
          <a:prstGeom prst="rect">
            <a:avLst/>
          </a:prstGeom>
          <a:noFill/>
        </p:spPr>
        <p:txBody>
          <a:bodyPr wrap="square">
            <a:spAutoFit/>
          </a:bodyPr>
          <a:lstStyle/>
          <a:p>
            <a:pPr algn="ctr"/>
            <a:r>
              <a:rPr lang="es-CO" sz="4000" b="1" dirty="0">
                <a:solidFill>
                  <a:schemeClr val="tx1">
                    <a:lumMod val="75000"/>
                    <a:lumOff val="25000"/>
                  </a:schemeClr>
                </a:solidFill>
              </a:rPr>
              <a:t>NORMALIZACIÓN</a:t>
            </a:r>
            <a:endParaRPr lang="es-CO" sz="4000" dirty="0"/>
          </a:p>
        </p:txBody>
      </p:sp>
      <p:sp>
        <p:nvSpPr>
          <p:cNvPr id="4" name="Rectángulo 3">
            <a:extLst>
              <a:ext uri="{FF2B5EF4-FFF2-40B4-BE49-F238E27FC236}">
                <a16:creationId xmlns:a16="http://schemas.microsoft.com/office/drawing/2014/main" id="{94A65BCD-E6D4-4144-B7D1-7D0C8FFA6564}"/>
              </a:ext>
            </a:extLst>
          </p:cNvPr>
          <p:cNvSpPr/>
          <p:nvPr/>
        </p:nvSpPr>
        <p:spPr>
          <a:xfrm flipV="1">
            <a:off x="3723701" y="1447118"/>
            <a:ext cx="1696597" cy="4571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 name="CuadroTexto 1">
            <a:extLst>
              <a:ext uri="{FF2B5EF4-FFF2-40B4-BE49-F238E27FC236}">
                <a16:creationId xmlns:a16="http://schemas.microsoft.com/office/drawing/2014/main" id="{085C4C01-85AB-42ED-9FBF-8C70D0B33681}"/>
              </a:ext>
            </a:extLst>
          </p:cNvPr>
          <p:cNvSpPr txBox="1"/>
          <p:nvPr/>
        </p:nvSpPr>
        <p:spPr>
          <a:xfrm>
            <a:off x="2514599" y="3265407"/>
            <a:ext cx="4114800" cy="307777"/>
          </a:xfrm>
          <a:prstGeom prst="rect">
            <a:avLst/>
          </a:prstGeom>
          <a:noFill/>
        </p:spPr>
        <p:txBody>
          <a:bodyPr wrap="square" rtlCol="0">
            <a:spAutoFit/>
          </a:bodyPr>
          <a:lstStyle/>
          <a:p>
            <a:pPr algn="ctr"/>
            <a:r>
              <a:rPr lang="es-CO" sz="1400" dirty="0">
                <a:hlinkClick r:id="rId2" action="ppaction://hlinkfile"/>
              </a:rPr>
              <a:t>NORMALIZACIÓN</a:t>
            </a:r>
            <a:endParaRPr lang="es-CO" sz="1400" dirty="0"/>
          </a:p>
        </p:txBody>
      </p:sp>
    </p:spTree>
    <p:extLst>
      <p:ext uri="{BB962C8B-B14F-4D97-AF65-F5344CB8AC3E}">
        <p14:creationId xmlns:p14="http://schemas.microsoft.com/office/powerpoint/2010/main" val="3676868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F9DF0B84-F293-4628-B89D-1F4622DFECE2}"/>
              </a:ext>
            </a:extLst>
          </p:cNvPr>
          <p:cNvSpPr txBox="1"/>
          <p:nvPr/>
        </p:nvSpPr>
        <p:spPr>
          <a:xfrm>
            <a:off x="2286000" y="123679"/>
            <a:ext cx="4572000" cy="1323439"/>
          </a:xfrm>
          <a:prstGeom prst="rect">
            <a:avLst/>
          </a:prstGeom>
          <a:noFill/>
        </p:spPr>
        <p:txBody>
          <a:bodyPr wrap="square">
            <a:spAutoFit/>
          </a:bodyPr>
          <a:lstStyle/>
          <a:p>
            <a:pPr algn="ctr"/>
            <a:r>
              <a:rPr lang="es-CO" sz="4000" b="1" dirty="0">
                <a:solidFill>
                  <a:schemeClr val="tx1">
                    <a:lumMod val="75000"/>
                    <a:lumOff val="25000"/>
                  </a:schemeClr>
                </a:solidFill>
              </a:rPr>
              <a:t>DIAGRAMA DE DISTRIBUCIÓN </a:t>
            </a:r>
            <a:endParaRPr lang="es-CO" sz="4000" dirty="0"/>
          </a:p>
        </p:txBody>
      </p:sp>
      <p:sp>
        <p:nvSpPr>
          <p:cNvPr id="4" name="Rectángulo 3">
            <a:extLst>
              <a:ext uri="{FF2B5EF4-FFF2-40B4-BE49-F238E27FC236}">
                <a16:creationId xmlns:a16="http://schemas.microsoft.com/office/drawing/2014/main" id="{94A65BCD-E6D4-4144-B7D1-7D0C8FFA6564}"/>
              </a:ext>
            </a:extLst>
          </p:cNvPr>
          <p:cNvSpPr/>
          <p:nvPr/>
        </p:nvSpPr>
        <p:spPr>
          <a:xfrm flipV="1">
            <a:off x="3723701" y="1447118"/>
            <a:ext cx="1696597" cy="4571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 name="CuadroTexto 1">
            <a:extLst>
              <a:ext uri="{FF2B5EF4-FFF2-40B4-BE49-F238E27FC236}">
                <a16:creationId xmlns:a16="http://schemas.microsoft.com/office/drawing/2014/main" id="{085C4C01-85AB-42ED-9FBF-8C70D0B33681}"/>
              </a:ext>
            </a:extLst>
          </p:cNvPr>
          <p:cNvSpPr txBox="1"/>
          <p:nvPr/>
        </p:nvSpPr>
        <p:spPr>
          <a:xfrm>
            <a:off x="2514599" y="3265407"/>
            <a:ext cx="4114800" cy="307777"/>
          </a:xfrm>
          <a:prstGeom prst="rect">
            <a:avLst/>
          </a:prstGeom>
          <a:noFill/>
        </p:spPr>
        <p:txBody>
          <a:bodyPr wrap="square" rtlCol="0">
            <a:spAutoFit/>
          </a:bodyPr>
          <a:lstStyle/>
          <a:p>
            <a:pPr algn="ctr"/>
            <a:r>
              <a:rPr lang="es-CO" sz="1400" dirty="0">
                <a:hlinkClick r:id="rId2" action="ppaction://hlinkfile"/>
              </a:rPr>
              <a:t>DIAGRAMA DE DISTRIBUCIÓN  </a:t>
            </a:r>
            <a:endParaRPr lang="es-CO" sz="1400" dirty="0"/>
          </a:p>
        </p:txBody>
      </p:sp>
    </p:spTree>
    <p:extLst>
      <p:ext uri="{BB962C8B-B14F-4D97-AF65-F5344CB8AC3E}">
        <p14:creationId xmlns:p14="http://schemas.microsoft.com/office/powerpoint/2010/main" val="3192302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1596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7077</TotalTime>
  <Words>1374</Words>
  <Application>Microsoft Office PowerPoint</Application>
  <PresentationFormat>Presentación en pantalla (16:9)</PresentationFormat>
  <Paragraphs>89</Paragraphs>
  <Slides>34</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34</vt:i4>
      </vt:variant>
    </vt:vector>
  </HeadingPairs>
  <TitlesOfParts>
    <vt:vector size="37" baseType="lpstr">
      <vt:lpstr>Arial</vt:lpstr>
      <vt:lpstr>Calibri</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Leonardo Cantor</dc:creator>
  <cp:lastModifiedBy>Jonathan Ramos</cp:lastModifiedBy>
  <cp:revision>18</cp:revision>
  <dcterms:created xsi:type="dcterms:W3CDTF">2019-11-27T03:16:21Z</dcterms:created>
  <dcterms:modified xsi:type="dcterms:W3CDTF">2022-04-02T13:14:25Z</dcterms:modified>
</cp:coreProperties>
</file>