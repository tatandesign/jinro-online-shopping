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044" r:id="rId1"/>
  </p:sldMasterIdLst>
  <p:sldIdLst>
    <p:sldId id="259" r:id="rId2"/>
    <p:sldId id="274" r:id="rId3"/>
    <p:sldId id="279" r:id="rId4"/>
    <p:sldId id="280" r:id="rId5"/>
    <p:sldId id="283" r:id="rId6"/>
    <p:sldId id="260" r:id="rId7"/>
    <p:sldId id="261" r:id="rId8"/>
    <p:sldId id="262" r:id="rId9"/>
    <p:sldId id="289" r:id="rId10"/>
    <p:sldId id="269" r:id="rId11"/>
    <p:sldId id="272" r:id="rId12"/>
    <p:sldId id="266" r:id="rId13"/>
    <p:sldId id="290" r:id="rId14"/>
    <p:sldId id="267" r:id="rId15"/>
    <p:sldId id="291" r:id="rId16"/>
    <p:sldId id="273" r:id="rId17"/>
    <p:sldId id="276" r:id="rId18"/>
    <p:sldId id="277" r:id="rId19"/>
    <p:sldId id="281" r:id="rId20"/>
    <p:sldId id="282" r:id="rId21"/>
    <p:sldId id="284" r:id="rId22"/>
    <p:sldId id="285" r:id="rId23"/>
    <p:sldId id="286" r:id="rId24"/>
    <p:sldId id="287" r:id="rId25"/>
    <p:sldId id="28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2A008A"/>
    <a:srgbClr val="025BA5"/>
    <a:srgbClr val="AE9DD2"/>
    <a:srgbClr val="222224"/>
    <a:srgbClr val="212123"/>
    <a:srgbClr val="F1F1F1"/>
    <a:srgbClr val="28282A"/>
    <a:srgbClr val="262628"/>
    <a:srgbClr val="1F1F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702"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1976DBD-8B69-4D46-B3E6-BF86BF018995}" type="datetimeFigureOut">
              <a:rPr lang="es-ES" smtClean="0"/>
              <a:t>14/02/2022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C9C6CB7F-F99D-4740-A1F3-15DD7BC4A2D7}" type="slidenum">
              <a:rPr lang="es-ES" smtClean="0"/>
              <a:t>‹Nº›</a:t>
            </a:fld>
            <a:endParaRPr lang="es-ES"/>
          </a:p>
        </p:txBody>
      </p:sp>
    </p:spTree>
    <p:extLst>
      <p:ext uri="{BB962C8B-B14F-4D97-AF65-F5344CB8AC3E}">
        <p14:creationId xmlns:p14="http://schemas.microsoft.com/office/powerpoint/2010/main" val="36901904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1976DBD-8B69-4D46-B3E6-BF86BF018995}" type="datetimeFigureOut">
              <a:rPr lang="es-ES" smtClean="0"/>
              <a:t>14/02/2022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2980622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8593667" y="6272784"/>
            <a:ext cx="2644309" cy="365125"/>
          </a:xfrm>
        </p:spPr>
        <p:txBody>
          <a:bodyPr/>
          <a:lstStyle/>
          <a:p>
            <a:fld id="{B1976DBD-8B69-4D46-B3E6-BF86BF018995}" type="datetimeFigureOut">
              <a:rPr lang="es-ES" smtClean="0"/>
              <a:t>14/02/2022</a:t>
            </a:fld>
            <a:endParaRPr lang="es-ES"/>
          </a:p>
        </p:txBody>
      </p:sp>
      <p:sp>
        <p:nvSpPr>
          <p:cNvPr id="5" name="Footer Placeholder 4"/>
          <p:cNvSpPr>
            <a:spLocks noGrp="1"/>
          </p:cNvSpPr>
          <p:nvPr>
            <p:ph type="ftr" sz="quarter" idx="11"/>
          </p:nvPr>
        </p:nvSpPr>
        <p:spPr>
          <a:xfrm>
            <a:off x="2182708" y="6272784"/>
            <a:ext cx="6327648" cy="365125"/>
          </a:xfrm>
        </p:spPr>
        <p:txBody>
          <a:bodyPr/>
          <a:lstStyle/>
          <a:p>
            <a:endParaRPr lang="es-E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C9C6CB7F-F99D-4740-A1F3-15DD7BC4A2D7}" type="slidenum">
              <a:rPr lang="es-ES" smtClean="0"/>
              <a:t>‹Nº›</a:t>
            </a:fld>
            <a:endParaRPr lang="es-ES"/>
          </a:p>
        </p:txBody>
      </p:sp>
    </p:spTree>
    <p:extLst>
      <p:ext uri="{BB962C8B-B14F-4D97-AF65-F5344CB8AC3E}">
        <p14:creationId xmlns:p14="http://schemas.microsoft.com/office/powerpoint/2010/main" val="18423706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1976DBD-8B69-4D46-B3E6-BF86BF018995}" type="datetimeFigureOut">
              <a:rPr lang="es-ES" smtClean="0"/>
              <a:t>14/02/2022</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1829958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1976DBD-8B69-4D46-B3E6-BF86BF018995}" type="datetimeFigureOut">
              <a:rPr lang="es-ES" smtClean="0"/>
              <a:t>14/02/2022</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1041712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1976DBD-8B69-4D46-B3E6-BF86BF018995}" type="datetimeFigureOut">
              <a:rPr lang="es-ES" smtClean="0"/>
              <a:t>14/02/2022</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11315493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976DBD-8B69-4D46-B3E6-BF86BF018995}" type="datetimeFigureOut">
              <a:rPr lang="es-ES" smtClean="0"/>
              <a:t>14/02/2022</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42918067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1976DBD-8B69-4D46-B3E6-BF86BF018995}" type="datetimeFigureOut">
              <a:rPr lang="es-ES" smtClean="0"/>
              <a:t>14/02/2022</a:t>
            </a:fld>
            <a:endParaRPr lang="es-ES"/>
          </a:p>
        </p:txBody>
      </p:sp>
      <p:sp>
        <p:nvSpPr>
          <p:cNvPr id="6" name="Footer Placeholder 5"/>
          <p:cNvSpPr>
            <a:spLocks noGrp="1"/>
          </p:cNvSpPr>
          <p:nvPr>
            <p:ph type="ftr" sz="quarter" idx="11"/>
          </p:nvPr>
        </p:nvSpPr>
        <p:spPr/>
        <p:txBody>
          <a:bodyPr/>
          <a:lstStyle/>
          <a:p>
            <a:endParaRPr lang="es-E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2446418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1976DBD-8B69-4D46-B3E6-BF86BF018995}" type="datetimeFigureOut">
              <a:rPr lang="es-ES" smtClean="0"/>
              <a:t>14/02/2022</a:t>
            </a:fld>
            <a:endParaRPr lang="es-E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32355529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1976DBD-8B69-4D46-B3E6-BF86BF018995}" type="datetimeFigureOut">
              <a:rPr lang="es-ES" smtClean="0"/>
              <a:t>14/02/2022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140198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1976DBD-8B69-4D46-B3E6-BF86BF018995}" type="datetimeFigureOut">
              <a:rPr lang="es-ES" smtClean="0"/>
              <a:t>14/02/2022</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9C6CB7F-F99D-4740-A1F3-15DD7BC4A2D7}" type="slidenum">
              <a:rPr lang="es-ES" smtClean="0"/>
              <a:t>‹Nº›</a:t>
            </a:fld>
            <a:endParaRPr lang="es-ES"/>
          </a:p>
        </p:txBody>
      </p:sp>
    </p:spTree>
    <p:extLst>
      <p:ext uri="{BB962C8B-B14F-4D97-AF65-F5344CB8AC3E}">
        <p14:creationId xmlns:p14="http://schemas.microsoft.com/office/powerpoint/2010/main" val="2875865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1976DBD-8B69-4D46-B3E6-BF86BF018995}" type="datetimeFigureOut">
              <a:rPr lang="es-ES" smtClean="0"/>
              <a:t>14/02/2022</a:t>
            </a:fld>
            <a:endParaRPr lang="es-E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s-E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C9C6CB7F-F99D-4740-A1F3-15DD7BC4A2D7}" type="slidenum">
              <a:rPr lang="es-ES" smtClean="0"/>
              <a:t>‹Nº›</a:t>
            </a:fld>
            <a:endParaRPr lang="es-ES"/>
          </a:p>
        </p:txBody>
      </p:sp>
    </p:spTree>
    <p:extLst>
      <p:ext uri="{BB962C8B-B14F-4D97-AF65-F5344CB8AC3E}">
        <p14:creationId xmlns:p14="http://schemas.microsoft.com/office/powerpoint/2010/main" val="3368017842"/>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svg"/><Relationship Id="rId7"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1.sv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8.xml"/><Relationship Id="rId5" Type="http://schemas.microsoft.com/office/2007/relationships/hdphoto" Target="../media/hdphoto3.wdp"/><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8.xml"/><Relationship Id="rId5" Type="http://schemas.microsoft.com/office/2007/relationships/hdphoto" Target="../media/hdphoto3.wdp"/><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8.xml"/><Relationship Id="rId5" Type="http://schemas.microsoft.com/office/2007/relationships/hdphoto" Target="../media/hdphoto3.wdp"/><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8.xml"/><Relationship Id="rId5" Type="http://schemas.microsoft.com/office/2007/relationships/hdphoto" Target="../media/hdphoto3.wdp"/><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hyperlink" Target="https://lucid.app/lucidchart/a5ffab42-b355-4d92-8a76-f0d2058349d6/edit" TargetMode="External"/><Relationship Id="rId11" Type="http://schemas.microsoft.com/office/2007/relationships/hdphoto" Target="../media/hdphoto3.wdp"/><Relationship Id="rId5" Type="http://schemas.openxmlformats.org/officeDocument/2006/relationships/image" Target="../media/image6.sv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hyperlink" Target="JINRO%20Servicio%20en%20BAR.bpm"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8.svg"/><Relationship Id="rId7"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hyperlink" Target="JINRO%20Servicio%20en%20BAR.bpm" TargetMode="External"/><Relationship Id="rId5" Type="http://schemas.openxmlformats.org/officeDocument/2006/relationships/image" Target="../media/image6.svg"/><Relationship Id="rId10" Type="http://schemas.microsoft.com/office/2007/relationships/hdphoto" Target="../media/hdphoto3.wdp"/><Relationship Id="rId4" Type="http://schemas.openxmlformats.org/officeDocument/2006/relationships/image" Target="../media/image5.png"/><Relationship Id="rId9" Type="http://schemas.openxmlformats.org/officeDocument/2006/relationships/image" Target="../media/image9.png"/></Relationships>
</file>

<file path=ppt/slides/_rels/slide1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8.sv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hyperlink" Target="Levantamiento%20de%20Informaci&#243;n.docx" TargetMode="External"/><Relationship Id="rId5" Type="http://schemas.openxmlformats.org/officeDocument/2006/relationships/image" Target="../media/image6.svg"/><Relationship Id="rId10" Type="http://schemas.microsoft.com/office/2007/relationships/hdphoto" Target="../media/hdphoto3.wdp"/><Relationship Id="rId4" Type="http://schemas.openxmlformats.org/officeDocument/2006/relationships/image" Target="../media/image5.png"/><Relationship Id="rId9" Type="http://schemas.openxmlformats.org/officeDocument/2006/relationships/image" Target="../media/image9.png"/></Relationships>
</file>

<file path=ppt/slides/_rels/slide19.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8.svg"/><Relationship Id="rId7"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hyperlink" Target="Levantamiento%20de%20Informaci&#243;n.docx" TargetMode="External"/><Relationship Id="rId11" Type="http://schemas.openxmlformats.org/officeDocument/2006/relationships/hyperlink" Target="https://github.com/TatanDesign/Primer-trimestre-Jinro-Online-Shoping-" TargetMode="External"/><Relationship Id="rId5" Type="http://schemas.openxmlformats.org/officeDocument/2006/relationships/image" Target="../media/image6.svg"/><Relationship Id="rId10" Type="http://schemas.microsoft.com/office/2007/relationships/hdphoto" Target="../media/hdphoto3.wdp"/><Relationship Id="rId4" Type="http://schemas.openxmlformats.org/officeDocument/2006/relationships/image" Target="../media/image5.png"/><Relationship Id="rId9" Type="http://schemas.openxmlformats.org/officeDocument/2006/relationships/image" Target="../media/image9.png"/></Relationships>
</file>

<file path=ppt/slides/_rels/slide20.xml.rels><?xml version="1.0" encoding="UTF-8" standalone="yes"?>
<Relationships xmlns="http://schemas.openxmlformats.org/package/2006/relationships"><Relationship Id="rId8" Type="http://schemas.openxmlformats.org/officeDocument/2006/relationships/hyperlink" Target="../Segundo%20Trimestre/Formato%20de%20Requerimientos%20funcionales%20y%20no%20funcionales.docx" TargetMode="External"/><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10" Type="http://schemas.openxmlformats.org/officeDocument/2006/relationships/image" Target="../media/image21.svg"/><Relationship Id="rId4" Type="http://schemas.openxmlformats.org/officeDocument/2006/relationships/image" Target="../media/image5.png"/><Relationship Id="rId9" Type="http://schemas.openxmlformats.org/officeDocument/2006/relationships/image" Target="../media/image20.png"/></Relationships>
</file>

<file path=ppt/slides/_rels/slide21.xml.rels><?xml version="1.0" encoding="UTF-8" standalone="yes"?>
<Relationships xmlns="http://schemas.openxmlformats.org/package/2006/relationships"><Relationship Id="rId8" Type="http://schemas.openxmlformats.org/officeDocument/2006/relationships/hyperlink" Target="../Segundo%20Trimestre/Diagrama%20de%20casos%20de%20uso.mdj" TargetMode="External"/><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10" Type="http://schemas.openxmlformats.org/officeDocument/2006/relationships/image" Target="../media/image23.svg"/><Relationship Id="rId4" Type="http://schemas.openxmlformats.org/officeDocument/2006/relationships/image" Target="../media/image5.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8" Type="http://schemas.openxmlformats.org/officeDocument/2006/relationships/hyperlink" Target="../Segundo%20Trimestre/Casos%20de%20uso%20extendido.docx" TargetMode="External"/><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10" Type="http://schemas.openxmlformats.org/officeDocument/2006/relationships/image" Target="../media/image25.svg"/><Relationship Id="rId4" Type="http://schemas.openxmlformats.org/officeDocument/2006/relationships/image" Target="../media/image5.png"/><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8" Type="http://schemas.openxmlformats.org/officeDocument/2006/relationships/hyperlink" Target="../Segundo%20Trimestre/Entidad%20relacion.mdj" TargetMode="External"/><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10" Type="http://schemas.openxmlformats.org/officeDocument/2006/relationships/image" Target="../media/image27.svg"/><Relationship Id="rId4" Type="http://schemas.openxmlformats.org/officeDocument/2006/relationships/image" Target="../media/image5.png"/><Relationship Id="rId9" Type="http://schemas.openxmlformats.org/officeDocument/2006/relationships/image" Target="../media/image26.png"/></Relationships>
</file>

<file path=ppt/slides/_rels/slide24.xml.rels><?xml version="1.0" encoding="UTF-8" standalone="yes"?>
<Relationships xmlns="http://schemas.openxmlformats.org/package/2006/relationships"><Relationship Id="rId8" Type="http://schemas.openxmlformats.org/officeDocument/2006/relationships/hyperlink" Target="../Segundo%20Trimestre/Diagrama%20de%20Gantt.mpp" TargetMode="External"/><Relationship Id="rId3" Type="http://schemas.openxmlformats.org/officeDocument/2006/relationships/image" Target="../media/image8.svg"/><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6.svg"/><Relationship Id="rId10" Type="http://schemas.openxmlformats.org/officeDocument/2006/relationships/image" Target="../media/image29.svg"/><Relationship Id="rId4" Type="http://schemas.openxmlformats.org/officeDocument/2006/relationships/image" Target="../media/image5.png"/><Relationship Id="rId9" Type="http://schemas.openxmlformats.org/officeDocument/2006/relationships/image" Target="../media/image28.png"/></Relationships>
</file>

<file path=ppt/slides/_rels/slide2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8.svg"/><Relationship Id="rId7" Type="http://schemas.openxmlformats.org/officeDocument/2006/relationships/image" Target="../media/image30.png"/><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slide" Target="slide1.xml"/><Relationship Id="rId5" Type="http://schemas.openxmlformats.org/officeDocument/2006/relationships/image" Target="../media/image6.svg"/><Relationship Id="rId10" Type="http://schemas.microsoft.com/office/2007/relationships/hdphoto" Target="../media/hdphoto3.wdp"/><Relationship Id="rId4" Type="http://schemas.openxmlformats.org/officeDocument/2006/relationships/image" Target="../media/image5.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1375983" y="606615"/>
            <a:ext cx="9440034" cy="1828801"/>
          </a:xfrm>
          <a:prstGeom prst="rect">
            <a:avLst/>
          </a:prstGeom>
          <a:effectLst>
            <a:outerShdw blurRad="25400" dir="17880000">
              <a:srgbClr val="000000">
                <a:alpha val="46000"/>
              </a:srgbClr>
            </a:outerShdw>
          </a:effectLst>
        </p:spPr>
        <p:txBody>
          <a:bodyPr vert="horz" lIns="91440" tIns="45720" rIns="91440" bIns="45720" rtlCol="0" anchor="b">
            <a:normAutofit lnSpcReduction="10000"/>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effectLst/>
                <a:latin typeface="Quango" panose="02000000000000000000" pitchFamily="50" charset="0"/>
              </a:rPr>
              <a:t>Proyecto de Analisis de Sistemas de Identificación </a:t>
            </a:r>
          </a:p>
        </p:txBody>
      </p:sp>
      <p:sp>
        <p:nvSpPr>
          <p:cNvPr id="4" name="Subtítulo 2">
            <a:extLst>
              <a:ext uri="{FF2B5EF4-FFF2-40B4-BE49-F238E27FC236}">
                <a16:creationId xmlns:a16="http://schemas.microsoft.com/office/drawing/2014/main" id="{57E27A8C-0D7F-4148-BF7E-333357D17B06}"/>
              </a:ext>
            </a:extLst>
          </p:cNvPr>
          <p:cNvSpPr txBox="1">
            <a:spLocks/>
          </p:cNvSpPr>
          <p:nvPr/>
        </p:nvSpPr>
        <p:spPr>
          <a:xfrm>
            <a:off x="2516792" y="3031669"/>
            <a:ext cx="7158417" cy="1049867"/>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algn="ctr"/>
            <a:r>
              <a:rPr lang="es-ES" sz="3200" dirty="0">
                <a:solidFill>
                  <a:schemeClr val="tx1"/>
                </a:solidFill>
                <a:latin typeface="Montserrat SemiBold" panose="00000700000000000000" pitchFamily="2" charset="0"/>
              </a:rPr>
              <a:t>Jonathan Estill Herrera Ramos </a:t>
            </a:r>
          </a:p>
        </p:txBody>
      </p:sp>
      <p:pic>
        <p:nvPicPr>
          <p:cNvPr id="6" name="Gráfico 5">
            <a:extLst>
              <a:ext uri="{FF2B5EF4-FFF2-40B4-BE49-F238E27FC236}">
                <a16:creationId xmlns:a16="http://schemas.microsoft.com/office/drawing/2014/main" id="{AD399956-773A-4533-9939-763589C9DB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81300" y="4422585"/>
            <a:ext cx="5562600" cy="5334000"/>
          </a:xfrm>
          <a:prstGeom prst="rect">
            <a:avLst/>
          </a:prstGeom>
        </p:spPr>
      </p:pic>
      <p:pic>
        <p:nvPicPr>
          <p:cNvPr id="7" name="Gráfico 6">
            <a:extLst>
              <a:ext uri="{FF2B5EF4-FFF2-40B4-BE49-F238E27FC236}">
                <a16:creationId xmlns:a16="http://schemas.microsoft.com/office/drawing/2014/main" id="{96B8476B-46FE-4B44-959B-3F029982B1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1030" name="Picture 6" descr="Logo servicio nacional de aprendizaje sena simbolo servicio de  entrenamiento nacional, logo de dragon ball, ángulo, texto png | PNGEgg">
            <a:extLst>
              <a:ext uri="{FF2B5EF4-FFF2-40B4-BE49-F238E27FC236}">
                <a16:creationId xmlns:a16="http://schemas.microsoft.com/office/drawing/2014/main" id="{E75A9BD8-94B7-4A43-AA4F-E76E2CF02ADB}"/>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0042217" y="4594213"/>
            <a:ext cx="1547599" cy="1031733"/>
          </a:xfrm>
          <a:prstGeom prst="rect">
            <a:avLst/>
          </a:prstGeom>
          <a:noFill/>
          <a:extLst>
            <a:ext uri="{909E8E84-426E-40DD-AFC4-6F175D3DCCD1}">
              <a14:hiddenFill xmlns:a14="http://schemas.microsoft.com/office/drawing/2010/main">
                <a:solidFill>
                  <a:srgbClr val="FFFFFF"/>
                </a:solidFill>
              </a14:hiddenFill>
            </a:ext>
          </a:extLst>
        </p:spPr>
      </p:pic>
      <p:pic>
        <p:nvPicPr>
          <p:cNvPr id="18" name="Gráfico 17">
            <a:extLst>
              <a:ext uri="{FF2B5EF4-FFF2-40B4-BE49-F238E27FC236}">
                <a16:creationId xmlns:a16="http://schemas.microsoft.com/office/drawing/2014/main" id="{C088A041-CE53-4ECE-A1DA-5CD65724FB5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29122" y="3809489"/>
            <a:ext cx="5133756" cy="1816457"/>
          </a:xfrm>
          <a:prstGeom prst="rect">
            <a:avLst/>
          </a:prstGeom>
        </p:spPr>
      </p:pic>
    </p:spTree>
    <p:extLst>
      <p:ext uri="{BB962C8B-B14F-4D97-AF65-F5344CB8AC3E}">
        <p14:creationId xmlns:p14="http://schemas.microsoft.com/office/powerpoint/2010/main" val="139941792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AC8ED434-830D-4692-8C17-C1C131E79892}"/>
              </a:ext>
            </a:extLst>
          </p:cNvPr>
          <p:cNvGrpSpPr/>
          <p:nvPr/>
        </p:nvGrpSpPr>
        <p:grpSpPr>
          <a:xfrm>
            <a:off x="1019282" y="1934325"/>
            <a:ext cx="2972986" cy="2989351"/>
            <a:chOff x="1019282" y="2140032"/>
            <a:chExt cx="2972986" cy="2989351"/>
          </a:xfrm>
        </p:grpSpPr>
        <p:grpSp>
          <p:nvGrpSpPr>
            <p:cNvPr id="63" name="Grupo 62">
              <a:extLst>
                <a:ext uri="{FF2B5EF4-FFF2-40B4-BE49-F238E27FC236}">
                  <a16:creationId xmlns:a16="http://schemas.microsoft.com/office/drawing/2014/main" id="{B7F9B51F-6E14-4687-8143-201170870A34}"/>
                </a:ext>
              </a:extLst>
            </p:cNvPr>
            <p:cNvGrpSpPr/>
            <p:nvPr/>
          </p:nvGrpSpPr>
          <p:grpSpPr>
            <a:xfrm>
              <a:off x="1019282" y="2244511"/>
              <a:ext cx="2822834" cy="2822834"/>
              <a:chOff x="1135753" y="2870834"/>
              <a:chExt cx="2650371" cy="2650371"/>
            </a:xfrm>
          </p:grpSpPr>
          <p:sp>
            <p:nvSpPr>
              <p:cNvPr id="12" name="Elipse 11">
                <a:extLst>
                  <a:ext uri="{FF2B5EF4-FFF2-40B4-BE49-F238E27FC236}">
                    <a16:creationId xmlns:a16="http://schemas.microsoft.com/office/drawing/2014/main" id="{7081B2A2-FB70-48A5-85E7-11A978CA7025}"/>
                  </a:ext>
                </a:extLst>
              </p:cNvPr>
              <p:cNvSpPr/>
              <p:nvPr/>
            </p:nvSpPr>
            <p:spPr>
              <a:xfrm>
                <a:off x="1368727" y="3103808"/>
                <a:ext cx="2184425" cy="2184425"/>
              </a:xfrm>
              <a:prstGeom prst="ellipse">
                <a:avLst/>
              </a:prstGeom>
              <a:gradFill>
                <a:gsLst>
                  <a:gs pos="0">
                    <a:srgbClr val="2A008A"/>
                  </a:gs>
                  <a:gs pos="100000">
                    <a:srgbClr val="025BA5"/>
                  </a:gs>
                </a:gsLst>
                <a:path path="circle">
                  <a:fillToRect r="100000" b="100000"/>
                </a:path>
              </a:gra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 name="Elipse 13">
                <a:extLst>
                  <a:ext uri="{FF2B5EF4-FFF2-40B4-BE49-F238E27FC236}">
                    <a16:creationId xmlns:a16="http://schemas.microsoft.com/office/drawing/2014/main" id="{350B684F-1083-44D5-ADD1-E17BB31EFF87}"/>
                  </a:ext>
                </a:extLst>
              </p:cNvPr>
              <p:cNvSpPr/>
              <p:nvPr/>
            </p:nvSpPr>
            <p:spPr>
              <a:xfrm>
                <a:off x="1448121" y="3183202"/>
                <a:ext cx="2040666" cy="2040666"/>
              </a:xfrm>
              <a:prstGeom prst="ellipse">
                <a:avLst/>
              </a:prstGeom>
              <a:solidFill>
                <a:schemeClr val="bg1"/>
              </a:solidFill>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000" dirty="0">
                  <a:latin typeface="Quango" panose="02000000000000000000" pitchFamily="50" charset="0"/>
                </a:endParaRPr>
              </a:p>
            </p:txBody>
          </p:sp>
          <p:sp>
            <p:nvSpPr>
              <p:cNvPr id="15" name="Arco 14">
                <a:extLst>
                  <a:ext uri="{FF2B5EF4-FFF2-40B4-BE49-F238E27FC236}">
                    <a16:creationId xmlns:a16="http://schemas.microsoft.com/office/drawing/2014/main" id="{989BBC02-3FF6-4420-BF24-B05CAEB6DB35}"/>
                  </a:ext>
                </a:extLst>
              </p:cNvPr>
              <p:cNvSpPr/>
              <p:nvPr/>
            </p:nvSpPr>
            <p:spPr>
              <a:xfrm>
                <a:off x="1135753" y="2870834"/>
                <a:ext cx="2650371" cy="2650371"/>
              </a:xfrm>
              <a:prstGeom prst="arc">
                <a:avLst>
                  <a:gd name="adj1" fmla="val 16200000"/>
                  <a:gd name="adj2" fmla="val 5251475"/>
                </a:avLst>
              </a:prstGeo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grpSp>
        <p:sp>
          <p:nvSpPr>
            <p:cNvPr id="65" name="Elipse 64">
              <a:extLst>
                <a:ext uri="{FF2B5EF4-FFF2-40B4-BE49-F238E27FC236}">
                  <a16:creationId xmlns:a16="http://schemas.microsoft.com/office/drawing/2014/main" id="{4EB39C80-B8DB-4B27-BCA1-B273105FD83D}"/>
                </a:ext>
              </a:extLst>
            </p:cNvPr>
            <p:cNvSpPr/>
            <p:nvPr/>
          </p:nvSpPr>
          <p:spPr>
            <a:xfrm>
              <a:off x="2683435" y="214003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6" name="Elipse 65">
              <a:extLst>
                <a:ext uri="{FF2B5EF4-FFF2-40B4-BE49-F238E27FC236}">
                  <a16:creationId xmlns:a16="http://schemas.microsoft.com/office/drawing/2014/main" id="{B2EEFE57-ABE3-4C3A-9BCB-16396DAFC3BB}"/>
                </a:ext>
              </a:extLst>
            </p:cNvPr>
            <p:cNvSpPr/>
            <p:nvPr/>
          </p:nvSpPr>
          <p:spPr>
            <a:xfrm>
              <a:off x="3287042" y="244834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7" name="Elipse 66">
              <a:extLst>
                <a:ext uri="{FF2B5EF4-FFF2-40B4-BE49-F238E27FC236}">
                  <a16:creationId xmlns:a16="http://schemas.microsoft.com/office/drawing/2014/main" id="{F0C736ED-DE40-4DF7-81B0-F74F91034678}"/>
                </a:ext>
              </a:extLst>
            </p:cNvPr>
            <p:cNvSpPr/>
            <p:nvPr/>
          </p:nvSpPr>
          <p:spPr>
            <a:xfrm>
              <a:off x="3639655" y="307380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8" name="Elipse 67">
              <a:extLst>
                <a:ext uri="{FF2B5EF4-FFF2-40B4-BE49-F238E27FC236}">
                  <a16:creationId xmlns:a16="http://schemas.microsoft.com/office/drawing/2014/main" id="{179AB9D6-E7BF-4B43-9011-0537849E504B}"/>
                </a:ext>
              </a:extLst>
            </p:cNvPr>
            <p:cNvSpPr/>
            <p:nvPr/>
          </p:nvSpPr>
          <p:spPr>
            <a:xfrm>
              <a:off x="3676078" y="3732172"/>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9" name="Elipse 68">
              <a:extLst>
                <a:ext uri="{FF2B5EF4-FFF2-40B4-BE49-F238E27FC236}">
                  <a16:creationId xmlns:a16="http://schemas.microsoft.com/office/drawing/2014/main" id="{7CF67F71-0447-481D-8A88-D96ACF045EA6}"/>
                </a:ext>
              </a:extLst>
            </p:cNvPr>
            <p:cNvSpPr/>
            <p:nvPr/>
          </p:nvSpPr>
          <p:spPr>
            <a:xfrm>
              <a:off x="3373764" y="4384807"/>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0" name="Elipse 69">
              <a:extLst>
                <a:ext uri="{FF2B5EF4-FFF2-40B4-BE49-F238E27FC236}">
                  <a16:creationId xmlns:a16="http://schemas.microsoft.com/office/drawing/2014/main" id="{3FFD7164-83CB-4DFB-9350-6BE8AAD7D1CC}"/>
                </a:ext>
              </a:extLst>
            </p:cNvPr>
            <p:cNvSpPr/>
            <p:nvPr/>
          </p:nvSpPr>
          <p:spPr>
            <a:xfrm>
              <a:off x="2724861" y="4835220"/>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50" name="Gráfico 49">
              <a:extLst>
                <a:ext uri="{FF2B5EF4-FFF2-40B4-BE49-F238E27FC236}">
                  <a16:creationId xmlns:a16="http://schemas.microsoft.com/office/drawing/2014/main" id="{E263559D-0611-43D6-908F-1580961A40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06143" y="3350818"/>
              <a:ext cx="1839615" cy="650904"/>
            </a:xfrm>
            <a:prstGeom prst="rect">
              <a:avLst/>
            </a:prstGeom>
          </p:spPr>
        </p:pic>
      </p:grpSp>
      <p:pic>
        <p:nvPicPr>
          <p:cNvPr id="46" name="Picture 6" descr="Logo servicio nacional de aprendizaje sena simbolo servicio de  entrenamiento nacional, logo de dragon ball, ángulo, texto png | PNGEgg">
            <a:extLst>
              <a:ext uri="{FF2B5EF4-FFF2-40B4-BE49-F238E27FC236}">
                <a16:creationId xmlns:a16="http://schemas.microsoft.com/office/drawing/2014/main" id="{5694B648-ADC1-4693-8608-294DC3AFE27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grpSp>
        <p:nvGrpSpPr>
          <p:cNvPr id="56" name="Grupo 55">
            <a:extLst>
              <a:ext uri="{FF2B5EF4-FFF2-40B4-BE49-F238E27FC236}">
                <a16:creationId xmlns:a16="http://schemas.microsoft.com/office/drawing/2014/main" id="{42CE8567-C0E2-418F-B2A8-52113FB3AEB9}"/>
              </a:ext>
            </a:extLst>
          </p:cNvPr>
          <p:cNvGrpSpPr/>
          <p:nvPr/>
        </p:nvGrpSpPr>
        <p:grpSpPr>
          <a:xfrm>
            <a:off x="5055674" y="1503970"/>
            <a:ext cx="5909182" cy="1477328"/>
            <a:chOff x="5755948" y="416190"/>
            <a:chExt cx="5909182" cy="1477328"/>
          </a:xfrm>
        </p:grpSpPr>
        <p:sp>
          <p:nvSpPr>
            <p:cNvPr id="57" name="CuadroTexto 56">
              <a:extLst>
                <a:ext uri="{FF2B5EF4-FFF2-40B4-BE49-F238E27FC236}">
                  <a16:creationId xmlns:a16="http://schemas.microsoft.com/office/drawing/2014/main" id="{0A9AE5FE-D158-4BA8-AB42-90292527AC1E}"/>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Planteamiento del problema</a:t>
              </a:r>
            </a:p>
          </p:txBody>
        </p:sp>
        <p:sp>
          <p:nvSpPr>
            <p:cNvPr id="58" name="Elipse 57">
              <a:extLst>
                <a:ext uri="{FF2B5EF4-FFF2-40B4-BE49-F238E27FC236}">
                  <a16:creationId xmlns:a16="http://schemas.microsoft.com/office/drawing/2014/main" id="{0A5CA2AB-F4FB-4E10-9EB9-644E4A1C7C59}"/>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59" name="Grupo 58">
            <a:extLst>
              <a:ext uri="{FF2B5EF4-FFF2-40B4-BE49-F238E27FC236}">
                <a16:creationId xmlns:a16="http://schemas.microsoft.com/office/drawing/2014/main" id="{C53E54C9-8160-4CE3-B411-713F9E9CF755}"/>
              </a:ext>
            </a:extLst>
          </p:cNvPr>
          <p:cNvGrpSpPr/>
          <p:nvPr/>
        </p:nvGrpSpPr>
        <p:grpSpPr>
          <a:xfrm>
            <a:off x="5099034" y="3266547"/>
            <a:ext cx="5909182" cy="784830"/>
            <a:chOff x="5755948" y="416190"/>
            <a:chExt cx="5909182" cy="784830"/>
          </a:xfrm>
        </p:grpSpPr>
        <p:sp>
          <p:nvSpPr>
            <p:cNvPr id="60" name="CuadroTexto 59">
              <a:extLst>
                <a:ext uri="{FF2B5EF4-FFF2-40B4-BE49-F238E27FC236}">
                  <a16:creationId xmlns:a16="http://schemas.microsoft.com/office/drawing/2014/main" id="{B6A337E1-C82D-4575-9C64-73DA947FA99C}"/>
                </a:ext>
              </a:extLst>
            </p:cNvPr>
            <p:cNvSpPr txBox="1"/>
            <p:nvPr/>
          </p:nvSpPr>
          <p:spPr>
            <a:xfrm>
              <a:off x="6562015" y="416190"/>
              <a:ext cx="5103115" cy="784830"/>
            </a:xfrm>
            <a:prstGeom prst="rect">
              <a:avLst/>
            </a:prstGeom>
            <a:noFill/>
          </p:spPr>
          <p:txBody>
            <a:bodyPr wrap="square" rtlCol="0">
              <a:spAutoFit/>
            </a:bodyPr>
            <a:lstStyle/>
            <a:p>
              <a:r>
                <a:rPr lang="es-ES" sz="4500" dirty="0">
                  <a:latin typeface="Quango" panose="02000000000000000000" pitchFamily="50" charset="0"/>
                </a:rPr>
                <a:t>Objetivos</a:t>
              </a:r>
            </a:p>
          </p:txBody>
        </p:sp>
        <p:sp>
          <p:nvSpPr>
            <p:cNvPr id="61" name="Elipse 60">
              <a:extLst>
                <a:ext uri="{FF2B5EF4-FFF2-40B4-BE49-F238E27FC236}">
                  <a16:creationId xmlns:a16="http://schemas.microsoft.com/office/drawing/2014/main" id="{410646E7-D159-44A4-8300-16DFDDEB1574}"/>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62" name="Grupo 61">
            <a:extLst>
              <a:ext uri="{FF2B5EF4-FFF2-40B4-BE49-F238E27FC236}">
                <a16:creationId xmlns:a16="http://schemas.microsoft.com/office/drawing/2014/main" id="{717BB3DD-0690-46CE-B01E-FAE9BFC27241}"/>
              </a:ext>
            </a:extLst>
          </p:cNvPr>
          <p:cNvGrpSpPr/>
          <p:nvPr/>
        </p:nvGrpSpPr>
        <p:grpSpPr>
          <a:xfrm>
            <a:off x="5077354" y="433891"/>
            <a:ext cx="5909182" cy="784830"/>
            <a:chOff x="5755948" y="416190"/>
            <a:chExt cx="5909182" cy="784830"/>
          </a:xfrm>
        </p:grpSpPr>
        <p:sp>
          <p:nvSpPr>
            <p:cNvPr id="64" name="CuadroTexto 63">
              <a:extLst>
                <a:ext uri="{FF2B5EF4-FFF2-40B4-BE49-F238E27FC236}">
                  <a16:creationId xmlns:a16="http://schemas.microsoft.com/office/drawing/2014/main" id="{E1A75E02-B923-4C4E-8E50-5F446931A9E0}"/>
                </a:ext>
              </a:extLst>
            </p:cNvPr>
            <p:cNvSpPr txBox="1"/>
            <p:nvPr/>
          </p:nvSpPr>
          <p:spPr>
            <a:xfrm>
              <a:off x="6562015" y="416190"/>
              <a:ext cx="5103115" cy="784830"/>
            </a:xfrm>
            <a:prstGeom prst="rect">
              <a:avLst/>
            </a:prstGeom>
            <a:noFill/>
          </p:spPr>
          <p:txBody>
            <a:bodyPr wrap="square" rtlCol="0">
              <a:spAutoFit/>
            </a:bodyPr>
            <a:lstStyle/>
            <a:p>
              <a:r>
                <a:rPr lang="es-ES" sz="4500" dirty="0">
                  <a:latin typeface="Quango" panose="02000000000000000000" pitchFamily="50" charset="0"/>
                </a:rPr>
                <a:t>Resumen</a:t>
              </a:r>
            </a:p>
          </p:txBody>
        </p:sp>
        <p:sp>
          <p:nvSpPr>
            <p:cNvPr id="71" name="Elipse 70">
              <a:extLst>
                <a:ext uri="{FF2B5EF4-FFF2-40B4-BE49-F238E27FC236}">
                  <a16:creationId xmlns:a16="http://schemas.microsoft.com/office/drawing/2014/main" id="{CE7AD9B7-3257-4AC7-83CF-D31871BD8359}"/>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72" name="Grupo 71">
            <a:extLst>
              <a:ext uri="{FF2B5EF4-FFF2-40B4-BE49-F238E27FC236}">
                <a16:creationId xmlns:a16="http://schemas.microsoft.com/office/drawing/2014/main" id="{B6FDED82-3258-4E74-BD6E-D3CC307CF24A}"/>
              </a:ext>
            </a:extLst>
          </p:cNvPr>
          <p:cNvGrpSpPr/>
          <p:nvPr/>
        </p:nvGrpSpPr>
        <p:grpSpPr>
          <a:xfrm>
            <a:off x="5120714" y="4336626"/>
            <a:ext cx="5909182" cy="784830"/>
            <a:chOff x="5755948" y="416190"/>
            <a:chExt cx="5909182" cy="784830"/>
          </a:xfrm>
        </p:grpSpPr>
        <p:sp>
          <p:nvSpPr>
            <p:cNvPr id="73" name="CuadroTexto 72">
              <a:extLst>
                <a:ext uri="{FF2B5EF4-FFF2-40B4-BE49-F238E27FC236}">
                  <a16:creationId xmlns:a16="http://schemas.microsoft.com/office/drawing/2014/main" id="{9798E329-C568-4C00-88AF-C756466CC556}"/>
                </a:ext>
              </a:extLst>
            </p:cNvPr>
            <p:cNvSpPr txBox="1"/>
            <p:nvPr/>
          </p:nvSpPr>
          <p:spPr>
            <a:xfrm>
              <a:off x="6562015" y="416190"/>
              <a:ext cx="5103115" cy="784830"/>
            </a:xfrm>
            <a:prstGeom prst="rect">
              <a:avLst/>
            </a:prstGeom>
            <a:noFill/>
          </p:spPr>
          <p:txBody>
            <a:bodyPr wrap="square" rtlCol="0">
              <a:spAutoFit/>
            </a:bodyPr>
            <a:lstStyle/>
            <a:p>
              <a:r>
                <a:rPr lang="es-ES" sz="4500" dirty="0">
                  <a:latin typeface="Quango" panose="02000000000000000000" pitchFamily="50" charset="0"/>
                </a:rPr>
                <a:t>Justificación</a:t>
              </a:r>
            </a:p>
          </p:txBody>
        </p:sp>
        <p:sp>
          <p:nvSpPr>
            <p:cNvPr id="74" name="Elipse 73">
              <a:extLst>
                <a:ext uri="{FF2B5EF4-FFF2-40B4-BE49-F238E27FC236}">
                  <a16:creationId xmlns:a16="http://schemas.microsoft.com/office/drawing/2014/main" id="{27D49A51-E704-4743-995E-0E54D0C7B00E}"/>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75" name="Grupo 74">
            <a:extLst>
              <a:ext uri="{FF2B5EF4-FFF2-40B4-BE49-F238E27FC236}">
                <a16:creationId xmlns:a16="http://schemas.microsoft.com/office/drawing/2014/main" id="{E1238AC2-DCEB-4805-B45F-9E4F0BA44F8B}"/>
              </a:ext>
            </a:extLst>
          </p:cNvPr>
          <p:cNvGrpSpPr/>
          <p:nvPr/>
        </p:nvGrpSpPr>
        <p:grpSpPr>
          <a:xfrm>
            <a:off x="5142396" y="5406707"/>
            <a:ext cx="5909182" cy="784830"/>
            <a:chOff x="5755948" y="416190"/>
            <a:chExt cx="5909182" cy="784830"/>
          </a:xfrm>
        </p:grpSpPr>
        <p:sp>
          <p:nvSpPr>
            <p:cNvPr id="76" name="CuadroTexto 75">
              <a:extLst>
                <a:ext uri="{FF2B5EF4-FFF2-40B4-BE49-F238E27FC236}">
                  <a16:creationId xmlns:a16="http://schemas.microsoft.com/office/drawing/2014/main" id="{393ACE12-AA3F-4A58-A5D3-358B5055CD4A}"/>
                </a:ext>
              </a:extLst>
            </p:cNvPr>
            <p:cNvSpPr txBox="1"/>
            <p:nvPr/>
          </p:nvSpPr>
          <p:spPr>
            <a:xfrm>
              <a:off x="6562015" y="416190"/>
              <a:ext cx="5103115" cy="784830"/>
            </a:xfrm>
            <a:prstGeom prst="rect">
              <a:avLst/>
            </a:prstGeom>
            <a:noFill/>
          </p:spPr>
          <p:txBody>
            <a:bodyPr wrap="square" rtlCol="0">
              <a:spAutoFit/>
            </a:bodyPr>
            <a:lstStyle/>
            <a:p>
              <a:r>
                <a:rPr lang="es-ES" sz="4500" dirty="0">
                  <a:latin typeface="Quango" panose="02000000000000000000" pitchFamily="50" charset="0"/>
                </a:rPr>
                <a:t>Alcance</a:t>
              </a:r>
            </a:p>
          </p:txBody>
        </p:sp>
        <p:sp>
          <p:nvSpPr>
            <p:cNvPr id="77" name="Elipse 76">
              <a:extLst>
                <a:ext uri="{FF2B5EF4-FFF2-40B4-BE49-F238E27FC236}">
                  <a16:creationId xmlns:a16="http://schemas.microsoft.com/office/drawing/2014/main" id="{66606C6F-E04F-4F13-97E3-7318F39E527C}"/>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Tree>
    <p:extLst>
      <p:ext uri="{BB962C8B-B14F-4D97-AF65-F5344CB8AC3E}">
        <p14:creationId xmlns:p14="http://schemas.microsoft.com/office/powerpoint/2010/main" val="17586468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AC8ED434-830D-4692-8C17-C1C131E79892}"/>
              </a:ext>
            </a:extLst>
          </p:cNvPr>
          <p:cNvGrpSpPr/>
          <p:nvPr/>
        </p:nvGrpSpPr>
        <p:grpSpPr>
          <a:xfrm>
            <a:off x="1019282" y="1934325"/>
            <a:ext cx="2972986" cy="2989351"/>
            <a:chOff x="1019282" y="2140032"/>
            <a:chExt cx="2972986" cy="2989351"/>
          </a:xfrm>
        </p:grpSpPr>
        <p:grpSp>
          <p:nvGrpSpPr>
            <p:cNvPr id="63" name="Grupo 62">
              <a:extLst>
                <a:ext uri="{FF2B5EF4-FFF2-40B4-BE49-F238E27FC236}">
                  <a16:creationId xmlns:a16="http://schemas.microsoft.com/office/drawing/2014/main" id="{B7F9B51F-6E14-4687-8143-201170870A34}"/>
                </a:ext>
              </a:extLst>
            </p:cNvPr>
            <p:cNvGrpSpPr/>
            <p:nvPr/>
          </p:nvGrpSpPr>
          <p:grpSpPr>
            <a:xfrm>
              <a:off x="1019282" y="2244511"/>
              <a:ext cx="2822834" cy="2822834"/>
              <a:chOff x="1135753" y="2870834"/>
              <a:chExt cx="2650371" cy="2650371"/>
            </a:xfrm>
          </p:grpSpPr>
          <p:sp>
            <p:nvSpPr>
              <p:cNvPr id="12" name="Elipse 11">
                <a:extLst>
                  <a:ext uri="{FF2B5EF4-FFF2-40B4-BE49-F238E27FC236}">
                    <a16:creationId xmlns:a16="http://schemas.microsoft.com/office/drawing/2014/main" id="{7081B2A2-FB70-48A5-85E7-11A978CA7025}"/>
                  </a:ext>
                </a:extLst>
              </p:cNvPr>
              <p:cNvSpPr/>
              <p:nvPr/>
            </p:nvSpPr>
            <p:spPr>
              <a:xfrm>
                <a:off x="1368727" y="3103808"/>
                <a:ext cx="2184425" cy="2184425"/>
              </a:xfrm>
              <a:prstGeom prst="ellipse">
                <a:avLst/>
              </a:prstGeom>
              <a:gradFill>
                <a:gsLst>
                  <a:gs pos="0">
                    <a:srgbClr val="2A008A"/>
                  </a:gs>
                  <a:gs pos="100000">
                    <a:srgbClr val="025BA5"/>
                  </a:gs>
                </a:gsLst>
                <a:path path="circle">
                  <a:fillToRect r="100000" b="100000"/>
                </a:path>
              </a:gra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 name="Elipse 13">
                <a:extLst>
                  <a:ext uri="{FF2B5EF4-FFF2-40B4-BE49-F238E27FC236}">
                    <a16:creationId xmlns:a16="http://schemas.microsoft.com/office/drawing/2014/main" id="{350B684F-1083-44D5-ADD1-E17BB31EFF87}"/>
                  </a:ext>
                </a:extLst>
              </p:cNvPr>
              <p:cNvSpPr/>
              <p:nvPr/>
            </p:nvSpPr>
            <p:spPr>
              <a:xfrm>
                <a:off x="1448121" y="3183202"/>
                <a:ext cx="2040666" cy="2040666"/>
              </a:xfrm>
              <a:prstGeom prst="ellipse">
                <a:avLst/>
              </a:prstGeom>
              <a:solidFill>
                <a:schemeClr val="bg1"/>
              </a:solidFill>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000" dirty="0">
                  <a:latin typeface="Quango" panose="02000000000000000000" pitchFamily="50" charset="0"/>
                </a:endParaRPr>
              </a:p>
            </p:txBody>
          </p:sp>
          <p:sp>
            <p:nvSpPr>
              <p:cNvPr id="15" name="Arco 14">
                <a:extLst>
                  <a:ext uri="{FF2B5EF4-FFF2-40B4-BE49-F238E27FC236}">
                    <a16:creationId xmlns:a16="http://schemas.microsoft.com/office/drawing/2014/main" id="{989BBC02-3FF6-4420-BF24-B05CAEB6DB35}"/>
                  </a:ext>
                </a:extLst>
              </p:cNvPr>
              <p:cNvSpPr/>
              <p:nvPr/>
            </p:nvSpPr>
            <p:spPr>
              <a:xfrm>
                <a:off x="1135753" y="2870834"/>
                <a:ext cx="2650371" cy="2650371"/>
              </a:xfrm>
              <a:prstGeom prst="arc">
                <a:avLst>
                  <a:gd name="adj1" fmla="val 16200000"/>
                  <a:gd name="adj2" fmla="val 5251475"/>
                </a:avLst>
              </a:prstGeo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grpSp>
        <p:sp>
          <p:nvSpPr>
            <p:cNvPr id="65" name="Elipse 64">
              <a:extLst>
                <a:ext uri="{FF2B5EF4-FFF2-40B4-BE49-F238E27FC236}">
                  <a16:creationId xmlns:a16="http://schemas.microsoft.com/office/drawing/2014/main" id="{4EB39C80-B8DB-4B27-BCA1-B273105FD83D}"/>
                </a:ext>
              </a:extLst>
            </p:cNvPr>
            <p:cNvSpPr/>
            <p:nvPr/>
          </p:nvSpPr>
          <p:spPr>
            <a:xfrm>
              <a:off x="2683435" y="214003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6" name="Elipse 65">
              <a:extLst>
                <a:ext uri="{FF2B5EF4-FFF2-40B4-BE49-F238E27FC236}">
                  <a16:creationId xmlns:a16="http://schemas.microsoft.com/office/drawing/2014/main" id="{B2EEFE57-ABE3-4C3A-9BCB-16396DAFC3BB}"/>
                </a:ext>
              </a:extLst>
            </p:cNvPr>
            <p:cNvSpPr/>
            <p:nvPr/>
          </p:nvSpPr>
          <p:spPr>
            <a:xfrm>
              <a:off x="3287042" y="244834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7" name="Elipse 66">
              <a:extLst>
                <a:ext uri="{FF2B5EF4-FFF2-40B4-BE49-F238E27FC236}">
                  <a16:creationId xmlns:a16="http://schemas.microsoft.com/office/drawing/2014/main" id="{F0C736ED-DE40-4DF7-81B0-F74F91034678}"/>
                </a:ext>
              </a:extLst>
            </p:cNvPr>
            <p:cNvSpPr/>
            <p:nvPr/>
          </p:nvSpPr>
          <p:spPr>
            <a:xfrm>
              <a:off x="3639655" y="307380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8" name="Elipse 67">
              <a:extLst>
                <a:ext uri="{FF2B5EF4-FFF2-40B4-BE49-F238E27FC236}">
                  <a16:creationId xmlns:a16="http://schemas.microsoft.com/office/drawing/2014/main" id="{179AB9D6-E7BF-4B43-9011-0537849E504B}"/>
                </a:ext>
              </a:extLst>
            </p:cNvPr>
            <p:cNvSpPr/>
            <p:nvPr/>
          </p:nvSpPr>
          <p:spPr>
            <a:xfrm>
              <a:off x="3676078" y="3732172"/>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9" name="Elipse 68">
              <a:extLst>
                <a:ext uri="{FF2B5EF4-FFF2-40B4-BE49-F238E27FC236}">
                  <a16:creationId xmlns:a16="http://schemas.microsoft.com/office/drawing/2014/main" id="{7CF67F71-0447-481D-8A88-D96ACF045EA6}"/>
                </a:ext>
              </a:extLst>
            </p:cNvPr>
            <p:cNvSpPr/>
            <p:nvPr/>
          </p:nvSpPr>
          <p:spPr>
            <a:xfrm>
              <a:off x="3373764" y="4384807"/>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0" name="Elipse 69">
              <a:extLst>
                <a:ext uri="{FF2B5EF4-FFF2-40B4-BE49-F238E27FC236}">
                  <a16:creationId xmlns:a16="http://schemas.microsoft.com/office/drawing/2014/main" id="{3FFD7164-83CB-4DFB-9350-6BE8AAD7D1CC}"/>
                </a:ext>
              </a:extLst>
            </p:cNvPr>
            <p:cNvSpPr/>
            <p:nvPr/>
          </p:nvSpPr>
          <p:spPr>
            <a:xfrm>
              <a:off x="2724861" y="4835220"/>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50" name="Gráfico 49">
              <a:extLst>
                <a:ext uri="{FF2B5EF4-FFF2-40B4-BE49-F238E27FC236}">
                  <a16:creationId xmlns:a16="http://schemas.microsoft.com/office/drawing/2014/main" id="{E263559D-0611-43D6-908F-1580961A40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06143" y="3350818"/>
              <a:ext cx="1839615" cy="650904"/>
            </a:xfrm>
            <a:prstGeom prst="rect">
              <a:avLst/>
            </a:prstGeom>
          </p:spPr>
        </p:pic>
      </p:grpSp>
      <p:pic>
        <p:nvPicPr>
          <p:cNvPr id="46" name="Picture 6" descr="Logo servicio nacional de aprendizaje sena simbolo servicio de  entrenamiento nacional, logo de dragon ball, ángulo, texto png | PNGEgg">
            <a:extLst>
              <a:ext uri="{FF2B5EF4-FFF2-40B4-BE49-F238E27FC236}">
                <a16:creationId xmlns:a16="http://schemas.microsoft.com/office/drawing/2014/main" id="{5694B648-ADC1-4693-8608-294DC3AFE27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grpSp>
        <p:nvGrpSpPr>
          <p:cNvPr id="56" name="Grupo 55">
            <a:extLst>
              <a:ext uri="{FF2B5EF4-FFF2-40B4-BE49-F238E27FC236}">
                <a16:creationId xmlns:a16="http://schemas.microsoft.com/office/drawing/2014/main" id="{42CE8567-C0E2-418F-B2A8-52113FB3AEB9}"/>
              </a:ext>
            </a:extLst>
          </p:cNvPr>
          <p:cNvGrpSpPr/>
          <p:nvPr/>
        </p:nvGrpSpPr>
        <p:grpSpPr>
          <a:xfrm>
            <a:off x="5055674" y="1970580"/>
            <a:ext cx="5909182" cy="784830"/>
            <a:chOff x="5755948" y="416190"/>
            <a:chExt cx="5909182" cy="784830"/>
          </a:xfrm>
        </p:grpSpPr>
        <p:sp>
          <p:nvSpPr>
            <p:cNvPr id="57" name="CuadroTexto 56">
              <a:extLst>
                <a:ext uri="{FF2B5EF4-FFF2-40B4-BE49-F238E27FC236}">
                  <a16:creationId xmlns:a16="http://schemas.microsoft.com/office/drawing/2014/main" id="{0A9AE5FE-D158-4BA8-AB42-90292527AC1E}"/>
                </a:ext>
              </a:extLst>
            </p:cNvPr>
            <p:cNvSpPr txBox="1"/>
            <p:nvPr/>
          </p:nvSpPr>
          <p:spPr>
            <a:xfrm>
              <a:off x="6562015" y="416190"/>
              <a:ext cx="5103115" cy="784830"/>
            </a:xfrm>
            <a:prstGeom prst="rect">
              <a:avLst/>
            </a:prstGeom>
            <a:noFill/>
          </p:spPr>
          <p:txBody>
            <a:bodyPr wrap="square" rtlCol="0">
              <a:spAutoFit/>
            </a:bodyPr>
            <a:lstStyle/>
            <a:p>
              <a:r>
                <a:rPr lang="es-ES" sz="4500" dirty="0">
                  <a:latin typeface="Quango" panose="02000000000000000000" pitchFamily="50" charset="0"/>
                </a:rPr>
                <a:t>BPMN</a:t>
              </a:r>
            </a:p>
          </p:txBody>
        </p:sp>
        <p:sp>
          <p:nvSpPr>
            <p:cNvPr id="58" name="Elipse 57">
              <a:extLst>
                <a:ext uri="{FF2B5EF4-FFF2-40B4-BE49-F238E27FC236}">
                  <a16:creationId xmlns:a16="http://schemas.microsoft.com/office/drawing/2014/main" id="{0A5CA2AB-F4FB-4E10-9EB9-644E4A1C7C59}"/>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59" name="Grupo 58">
            <a:extLst>
              <a:ext uri="{FF2B5EF4-FFF2-40B4-BE49-F238E27FC236}">
                <a16:creationId xmlns:a16="http://schemas.microsoft.com/office/drawing/2014/main" id="{C53E54C9-8160-4CE3-B411-713F9E9CF755}"/>
              </a:ext>
            </a:extLst>
          </p:cNvPr>
          <p:cNvGrpSpPr/>
          <p:nvPr/>
        </p:nvGrpSpPr>
        <p:grpSpPr>
          <a:xfrm>
            <a:off x="5113488" y="2814771"/>
            <a:ext cx="5909182" cy="1477328"/>
            <a:chOff x="5755948" y="416190"/>
            <a:chExt cx="5909182" cy="1477328"/>
          </a:xfrm>
        </p:grpSpPr>
        <p:sp>
          <p:nvSpPr>
            <p:cNvPr id="60" name="CuadroTexto 59">
              <a:extLst>
                <a:ext uri="{FF2B5EF4-FFF2-40B4-BE49-F238E27FC236}">
                  <a16:creationId xmlns:a16="http://schemas.microsoft.com/office/drawing/2014/main" id="{B6A337E1-C82D-4575-9C64-73DA947FA99C}"/>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Levantamiento de información</a:t>
              </a:r>
            </a:p>
          </p:txBody>
        </p:sp>
        <p:sp>
          <p:nvSpPr>
            <p:cNvPr id="61" name="Elipse 60">
              <a:extLst>
                <a:ext uri="{FF2B5EF4-FFF2-40B4-BE49-F238E27FC236}">
                  <a16:creationId xmlns:a16="http://schemas.microsoft.com/office/drawing/2014/main" id="{410646E7-D159-44A4-8300-16DFDDEB1574}"/>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62" name="Grupo 61">
            <a:extLst>
              <a:ext uri="{FF2B5EF4-FFF2-40B4-BE49-F238E27FC236}">
                <a16:creationId xmlns:a16="http://schemas.microsoft.com/office/drawing/2014/main" id="{717BB3DD-0690-46CE-B01E-FAE9BFC27241}"/>
              </a:ext>
            </a:extLst>
          </p:cNvPr>
          <p:cNvGrpSpPr/>
          <p:nvPr/>
        </p:nvGrpSpPr>
        <p:grpSpPr>
          <a:xfrm>
            <a:off x="5084581" y="433891"/>
            <a:ext cx="5909182" cy="1477328"/>
            <a:chOff x="5755948" y="416190"/>
            <a:chExt cx="5909182" cy="1477328"/>
          </a:xfrm>
        </p:grpSpPr>
        <p:sp>
          <p:nvSpPr>
            <p:cNvPr id="64" name="CuadroTexto 63">
              <a:extLst>
                <a:ext uri="{FF2B5EF4-FFF2-40B4-BE49-F238E27FC236}">
                  <a16:creationId xmlns:a16="http://schemas.microsoft.com/office/drawing/2014/main" id="{E1A75E02-B923-4C4E-8E50-5F446931A9E0}"/>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Mapa de procesos</a:t>
              </a:r>
            </a:p>
          </p:txBody>
        </p:sp>
        <p:sp>
          <p:nvSpPr>
            <p:cNvPr id="71" name="Elipse 70">
              <a:extLst>
                <a:ext uri="{FF2B5EF4-FFF2-40B4-BE49-F238E27FC236}">
                  <a16:creationId xmlns:a16="http://schemas.microsoft.com/office/drawing/2014/main" id="{CE7AD9B7-3257-4AC7-83CF-D31871BD8359}"/>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72" name="Grupo 71">
            <a:extLst>
              <a:ext uri="{FF2B5EF4-FFF2-40B4-BE49-F238E27FC236}">
                <a16:creationId xmlns:a16="http://schemas.microsoft.com/office/drawing/2014/main" id="{B6FDED82-3258-4E74-BD6E-D3CC307CF24A}"/>
              </a:ext>
            </a:extLst>
          </p:cNvPr>
          <p:cNvGrpSpPr/>
          <p:nvPr/>
        </p:nvGrpSpPr>
        <p:grpSpPr>
          <a:xfrm>
            <a:off x="5142396" y="4351460"/>
            <a:ext cx="5909182" cy="1477328"/>
            <a:chOff x="5755948" y="416190"/>
            <a:chExt cx="5909182" cy="1477328"/>
          </a:xfrm>
        </p:grpSpPr>
        <p:sp>
          <p:nvSpPr>
            <p:cNvPr id="73" name="CuadroTexto 72">
              <a:extLst>
                <a:ext uri="{FF2B5EF4-FFF2-40B4-BE49-F238E27FC236}">
                  <a16:creationId xmlns:a16="http://schemas.microsoft.com/office/drawing/2014/main" id="{9798E329-C568-4C00-88AF-C756466CC556}"/>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Control de versiones</a:t>
              </a:r>
            </a:p>
          </p:txBody>
        </p:sp>
        <p:sp>
          <p:nvSpPr>
            <p:cNvPr id="74" name="Elipse 73">
              <a:extLst>
                <a:ext uri="{FF2B5EF4-FFF2-40B4-BE49-F238E27FC236}">
                  <a16:creationId xmlns:a16="http://schemas.microsoft.com/office/drawing/2014/main" id="{27D49A51-E704-4743-995E-0E54D0C7B00E}"/>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Tree>
    <p:extLst>
      <p:ext uri="{BB962C8B-B14F-4D97-AF65-F5344CB8AC3E}">
        <p14:creationId xmlns:p14="http://schemas.microsoft.com/office/powerpoint/2010/main" val="24883143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AC8ED434-830D-4692-8C17-C1C131E79892}"/>
              </a:ext>
            </a:extLst>
          </p:cNvPr>
          <p:cNvGrpSpPr/>
          <p:nvPr/>
        </p:nvGrpSpPr>
        <p:grpSpPr>
          <a:xfrm>
            <a:off x="1019282" y="1934325"/>
            <a:ext cx="2972986" cy="2989351"/>
            <a:chOff x="1019282" y="2140032"/>
            <a:chExt cx="2972986" cy="2989351"/>
          </a:xfrm>
        </p:grpSpPr>
        <p:grpSp>
          <p:nvGrpSpPr>
            <p:cNvPr id="63" name="Grupo 62">
              <a:extLst>
                <a:ext uri="{FF2B5EF4-FFF2-40B4-BE49-F238E27FC236}">
                  <a16:creationId xmlns:a16="http://schemas.microsoft.com/office/drawing/2014/main" id="{B7F9B51F-6E14-4687-8143-201170870A34}"/>
                </a:ext>
              </a:extLst>
            </p:cNvPr>
            <p:cNvGrpSpPr/>
            <p:nvPr/>
          </p:nvGrpSpPr>
          <p:grpSpPr>
            <a:xfrm>
              <a:off x="1019282" y="2244511"/>
              <a:ext cx="2822834" cy="2822834"/>
              <a:chOff x="1135753" y="2870834"/>
              <a:chExt cx="2650371" cy="2650371"/>
            </a:xfrm>
          </p:grpSpPr>
          <p:sp>
            <p:nvSpPr>
              <p:cNvPr id="12" name="Elipse 11">
                <a:extLst>
                  <a:ext uri="{FF2B5EF4-FFF2-40B4-BE49-F238E27FC236}">
                    <a16:creationId xmlns:a16="http://schemas.microsoft.com/office/drawing/2014/main" id="{7081B2A2-FB70-48A5-85E7-11A978CA7025}"/>
                  </a:ext>
                </a:extLst>
              </p:cNvPr>
              <p:cNvSpPr/>
              <p:nvPr/>
            </p:nvSpPr>
            <p:spPr>
              <a:xfrm>
                <a:off x="1368727" y="3103808"/>
                <a:ext cx="2184425" cy="2184425"/>
              </a:xfrm>
              <a:prstGeom prst="ellipse">
                <a:avLst/>
              </a:prstGeom>
              <a:gradFill>
                <a:gsLst>
                  <a:gs pos="0">
                    <a:srgbClr val="2A008A"/>
                  </a:gs>
                  <a:gs pos="100000">
                    <a:srgbClr val="025BA5"/>
                  </a:gs>
                </a:gsLst>
                <a:path path="circle">
                  <a:fillToRect r="100000" b="100000"/>
                </a:path>
              </a:gra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 name="Elipse 13">
                <a:extLst>
                  <a:ext uri="{FF2B5EF4-FFF2-40B4-BE49-F238E27FC236}">
                    <a16:creationId xmlns:a16="http://schemas.microsoft.com/office/drawing/2014/main" id="{350B684F-1083-44D5-ADD1-E17BB31EFF87}"/>
                  </a:ext>
                </a:extLst>
              </p:cNvPr>
              <p:cNvSpPr/>
              <p:nvPr/>
            </p:nvSpPr>
            <p:spPr>
              <a:xfrm>
                <a:off x="1448121" y="3183202"/>
                <a:ext cx="2040666" cy="2040666"/>
              </a:xfrm>
              <a:prstGeom prst="ellipse">
                <a:avLst/>
              </a:prstGeom>
              <a:solidFill>
                <a:schemeClr val="bg1"/>
              </a:solidFill>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000" dirty="0">
                  <a:latin typeface="Quango" panose="02000000000000000000" pitchFamily="50" charset="0"/>
                </a:endParaRPr>
              </a:p>
            </p:txBody>
          </p:sp>
          <p:sp>
            <p:nvSpPr>
              <p:cNvPr id="15" name="Arco 14">
                <a:extLst>
                  <a:ext uri="{FF2B5EF4-FFF2-40B4-BE49-F238E27FC236}">
                    <a16:creationId xmlns:a16="http://schemas.microsoft.com/office/drawing/2014/main" id="{989BBC02-3FF6-4420-BF24-B05CAEB6DB35}"/>
                  </a:ext>
                </a:extLst>
              </p:cNvPr>
              <p:cNvSpPr/>
              <p:nvPr/>
            </p:nvSpPr>
            <p:spPr>
              <a:xfrm>
                <a:off x="1135753" y="2870834"/>
                <a:ext cx="2650371" cy="2650371"/>
              </a:xfrm>
              <a:prstGeom prst="arc">
                <a:avLst>
                  <a:gd name="adj1" fmla="val 16200000"/>
                  <a:gd name="adj2" fmla="val 5251475"/>
                </a:avLst>
              </a:prstGeo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grpSp>
        <p:sp>
          <p:nvSpPr>
            <p:cNvPr id="65" name="Elipse 64">
              <a:extLst>
                <a:ext uri="{FF2B5EF4-FFF2-40B4-BE49-F238E27FC236}">
                  <a16:creationId xmlns:a16="http://schemas.microsoft.com/office/drawing/2014/main" id="{4EB39C80-B8DB-4B27-BCA1-B273105FD83D}"/>
                </a:ext>
              </a:extLst>
            </p:cNvPr>
            <p:cNvSpPr/>
            <p:nvPr/>
          </p:nvSpPr>
          <p:spPr>
            <a:xfrm>
              <a:off x="2683435" y="214003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6" name="Elipse 65">
              <a:extLst>
                <a:ext uri="{FF2B5EF4-FFF2-40B4-BE49-F238E27FC236}">
                  <a16:creationId xmlns:a16="http://schemas.microsoft.com/office/drawing/2014/main" id="{B2EEFE57-ABE3-4C3A-9BCB-16396DAFC3BB}"/>
                </a:ext>
              </a:extLst>
            </p:cNvPr>
            <p:cNvSpPr/>
            <p:nvPr/>
          </p:nvSpPr>
          <p:spPr>
            <a:xfrm>
              <a:off x="3287042" y="244834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7" name="Elipse 66">
              <a:extLst>
                <a:ext uri="{FF2B5EF4-FFF2-40B4-BE49-F238E27FC236}">
                  <a16:creationId xmlns:a16="http://schemas.microsoft.com/office/drawing/2014/main" id="{F0C736ED-DE40-4DF7-81B0-F74F91034678}"/>
                </a:ext>
              </a:extLst>
            </p:cNvPr>
            <p:cNvSpPr/>
            <p:nvPr/>
          </p:nvSpPr>
          <p:spPr>
            <a:xfrm>
              <a:off x="3639655" y="307380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8" name="Elipse 67">
              <a:extLst>
                <a:ext uri="{FF2B5EF4-FFF2-40B4-BE49-F238E27FC236}">
                  <a16:creationId xmlns:a16="http://schemas.microsoft.com/office/drawing/2014/main" id="{179AB9D6-E7BF-4B43-9011-0537849E504B}"/>
                </a:ext>
              </a:extLst>
            </p:cNvPr>
            <p:cNvSpPr/>
            <p:nvPr/>
          </p:nvSpPr>
          <p:spPr>
            <a:xfrm>
              <a:off x="3676078" y="3732172"/>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9" name="Elipse 68">
              <a:extLst>
                <a:ext uri="{FF2B5EF4-FFF2-40B4-BE49-F238E27FC236}">
                  <a16:creationId xmlns:a16="http://schemas.microsoft.com/office/drawing/2014/main" id="{7CF67F71-0447-481D-8A88-D96ACF045EA6}"/>
                </a:ext>
              </a:extLst>
            </p:cNvPr>
            <p:cNvSpPr/>
            <p:nvPr/>
          </p:nvSpPr>
          <p:spPr>
            <a:xfrm>
              <a:off x="3373764" y="4384807"/>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0" name="Elipse 69">
              <a:extLst>
                <a:ext uri="{FF2B5EF4-FFF2-40B4-BE49-F238E27FC236}">
                  <a16:creationId xmlns:a16="http://schemas.microsoft.com/office/drawing/2014/main" id="{3FFD7164-83CB-4DFB-9350-6BE8AAD7D1CC}"/>
                </a:ext>
              </a:extLst>
            </p:cNvPr>
            <p:cNvSpPr/>
            <p:nvPr/>
          </p:nvSpPr>
          <p:spPr>
            <a:xfrm>
              <a:off x="2724861" y="4835220"/>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50" name="Gráfico 49">
              <a:extLst>
                <a:ext uri="{FF2B5EF4-FFF2-40B4-BE49-F238E27FC236}">
                  <a16:creationId xmlns:a16="http://schemas.microsoft.com/office/drawing/2014/main" id="{E263559D-0611-43D6-908F-1580961A40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06143" y="3350818"/>
              <a:ext cx="1839615" cy="650904"/>
            </a:xfrm>
            <a:prstGeom prst="rect">
              <a:avLst/>
            </a:prstGeom>
          </p:spPr>
        </p:pic>
      </p:grpSp>
      <p:pic>
        <p:nvPicPr>
          <p:cNvPr id="46" name="Picture 6" descr="Logo servicio nacional de aprendizaje sena simbolo servicio de  entrenamiento nacional, logo de dragon ball, ángulo, texto png | PNGEgg">
            <a:extLst>
              <a:ext uri="{FF2B5EF4-FFF2-40B4-BE49-F238E27FC236}">
                <a16:creationId xmlns:a16="http://schemas.microsoft.com/office/drawing/2014/main" id="{5694B648-ADC1-4693-8608-294DC3AFE27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rupo 61">
            <a:extLst>
              <a:ext uri="{FF2B5EF4-FFF2-40B4-BE49-F238E27FC236}">
                <a16:creationId xmlns:a16="http://schemas.microsoft.com/office/drawing/2014/main" id="{717BB3DD-0690-46CE-B01E-FAE9BFC27241}"/>
              </a:ext>
            </a:extLst>
          </p:cNvPr>
          <p:cNvGrpSpPr/>
          <p:nvPr/>
        </p:nvGrpSpPr>
        <p:grpSpPr>
          <a:xfrm>
            <a:off x="5372190" y="349223"/>
            <a:ext cx="5909182" cy="1477328"/>
            <a:chOff x="5755948" y="416190"/>
            <a:chExt cx="5909182" cy="1477328"/>
          </a:xfrm>
        </p:grpSpPr>
        <p:sp>
          <p:nvSpPr>
            <p:cNvPr id="64" name="CuadroTexto 63">
              <a:extLst>
                <a:ext uri="{FF2B5EF4-FFF2-40B4-BE49-F238E27FC236}">
                  <a16:creationId xmlns:a16="http://schemas.microsoft.com/office/drawing/2014/main" id="{E1A75E02-B923-4C4E-8E50-5F446931A9E0}"/>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Requerimiento funcionales</a:t>
              </a:r>
            </a:p>
          </p:txBody>
        </p:sp>
        <p:sp>
          <p:nvSpPr>
            <p:cNvPr id="71" name="Elipse 70">
              <a:extLst>
                <a:ext uri="{FF2B5EF4-FFF2-40B4-BE49-F238E27FC236}">
                  <a16:creationId xmlns:a16="http://schemas.microsoft.com/office/drawing/2014/main" id="{CE7AD9B7-3257-4AC7-83CF-D31871BD8359}"/>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18" name="Grupo 17">
            <a:extLst>
              <a:ext uri="{FF2B5EF4-FFF2-40B4-BE49-F238E27FC236}">
                <a16:creationId xmlns:a16="http://schemas.microsoft.com/office/drawing/2014/main" id="{A9E3550C-F5A1-41E8-B0B0-C82FEB07429D}"/>
              </a:ext>
            </a:extLst>
          </p:cNvPr>
          <p:cNvGrpSpPr/>
          <p:nvPr/>
        </p:nvGrpSpPr>
        <p:grpSpPr>
          <a:xfrm>
            <a:off x="5372190" y="2044763"/>
            <a:ext cx="5909182" cy="1477328"/>
            <a:chOff x="5755948" y="416190"/>
            <a:chExt cx="5909182" cy="1477328"/>
          </a:xfrm>
        </p:grpSpPr>
        <p:sp>
          <p:nvSpPr>
            <p:cNvPr id="19" name="CuadroTexto 18">
              <a:extLst>
                <a:ext uri="{FF2B5EF4-FFF2-40B4-BE49-F238E27FC236}">
                  <a16:creationId xmlns:a16="http://schemas.microsoft.com/office/drawing/2014/main" id="{BDFBEEAC-A6CC-424E-B1F0-E2FBFF11CC8A}"/>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Diagrama de casos de uso</a:t>
              </a:r>
            </a:p>
          </p:txBody>
        </p:sp>
        <p:sp>
          <p:nvSpPr>
            <p:cNvPr id="20" name="Elipse 19">
              <a:extLst>
                <a:ext uri="{FF2B5EF4-FFF2-40B4-BE49-F238E27FC236}">
                  <a16:creationId xmlns:a16="http://schemas.microsoft.com/office/drawing/2014/main" id="{F340ADAA-CEA6-41C0-AB8D-377A6082D6F2}"/>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21" name="Grupo 20">
            <a:extLst>
              <a:ext uri="{FF2B5EF4-FFF2-40B4-BE49-F238E27FC236}">
                <a16:creationId xmlns:a16="http://schemas.microsoft.com/office/drawing/2014/main" id="{9D9F056C-05DD-4489-BFA8-928BFBE50390}"/>
              </a:ext>
            </a:extLst>
          </p:cNvPr>
          <p:cNvGrpSpPr/>
          <p:nvPr/>
        </p:nvGrpSpPr>
        <p:grpSpPr>
          <a:xfrm>
            <a:off x="5372190" y="3596207"/>
            <a:ext cx="5909182" cy="1477328"/>
            <a:chOff x="5755948" y="416190"/>
            <a:chExt cx="5909182" cy="1477328"/>
          </a:xfrm>
        </p:grpSpPr>
        <p:sp>
          <p:nvSpPr>
            <p:cNvPr id="22" name="CuadroTexto 21">
              <a:extLst>
                <a:ext uri="{FF2B5EF4-FFF2-40B4-BE49-F238E27FC236}">
                  <a16:creationId xmlns:a16="http://schemas.microsoft.com/office/drawing/2014/main" id="{B02926D3-32B0-4DC6-B190-18920713365A}"/>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Formato de casos de uso extendido</a:t>
              </a:r>
            </a:p>
          </p:txBody>
        </p:sp>
        <p:sp>
          <p:nvSpPr>
            <p:cNvPr id="23" name="Elipse 22">
              <a:extLst>
                <a:ext uri="{FF2B5EF4-FFF2-40B4-BE49-F238E27FC236}">
                  <a16:creationId xmlns:a16="http://schemas.microsoft.com/office/drawing/2014/main" id="{0548E09B-13CB-4250-AEF4-2F3510D8E53A}"/>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grpSp>
        <p:nvGrpSpPr>
          <p:cNvPr id="24" name="Grupo 23">
            <a:extLst>
              <a:ext uri="{FF2B5EF4-FFF2-40B4-BE49-F238E27FC236}">
                <a16:creationId xmlns:a16="http://schemas.microsoft.com/office/drawing/2014/main" id="{BF55BDE7-A2B7-41B8-9281-84857DCD1B54}"/>
              </a:ext>
            </a:extLst>
          </p:cNvPr>
          <p:cNvGrpSpPr/>
          <p:nvPr/>
        </p:nvGrpSpPr>
        <p:grpSpPr>
          <a:xfrm>
            <a:off x="5372190" y="5048424"/>
            <a:ext cx="5909182" cy="1477328"/>
            <a:chOff x="5755948" y="416190"/>
            <a:chExt cx="5909182" cy="1477328"/>
          </a:xfrm>
        </p:grpSpPr>
        <p:sp>
          <p:nvSpPr>
            <p:cNvPr id="25" name="CuadroTexto 24">
              <a:extLst>
                <a:ext uri="{FF2B5EF4-FFF2-40B4-BE49-F238E27FC236}">
                  <a16:creationId xmlns:a16="http://schemas.microsoft.com/office/drawing/2014/main" id="{5F2E8CCB-3417-45CA-B957-1BD06DF44E25}"/>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Modelo entidad relación</a:t>
              </a:r>
            </a:p>
          </p:txBody>
        </p:sp>
        <p:sp>
          <p:nvSpPr>
            <p:cNvPr id="26" name="Elipse 25">
              <a:extLst>
                <a:ext uri="{FF2B5EF4-FFF2-40B4-BE49-F238E27FC236}">
                  <a16:creationId xmlns:a16="http://schemas.microsoft.com/office/drawing/2014/main" id="{9B508F92-A20E-4A20-B572-7DD9CE4B2D9C}"/>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Tree>
    <p:extLst>
      <p:ext uri="{BB962C8B-B14F-4D97-AF65-F5344CB8AC3E}">
        <p14:creationId xmlns:p14="http://schemas.microsoft.com/office/powerpoint/2010/main" val="39308511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AC8ED434-830D-4692-8C17-C1C131E79892}"/>
              </a:ext>
            </a:extLst>
          </p:cNvPr>
          <p:cNvGrpSpPr/>
          <p:nvPr/>
        </p:nvGrpSpPr>
        <p:grpSpPr>
          <a:xfrm>
            <a:off x="1019282" y="1934325"/>
            <a:ext cx="2972986" cy="2989351"/>
            <a:chOff x="1019282" y="2140032"/>
            <a:chExt cx="2972986" cy="2989351"/>
          </a:xfrm>
        </p:grpSpPr>
        <p:grpSp>
          <p:nvGrpSpPr>
            <p:cNvPr id="63" name="Grupo 62">
              <a:extLst>
                <a:ext uri="{FF2B5EF4-FFF2-40B4-BE49-F238E27FC236}">
                  <a16:creationId xmlns:a16="http://schemas.microsoft.com/office/drawing/2014/main" id="{B7F9B51F-6E14-4687-8143-201170870A34}"/>
                </a:ext>
              </a:extLst>
            </p:cNvPr>
            <p:cNvGrpSpPr/>
            <p:nvPr/>
          </p:nvGrpSpPr>
          <p:grpSpPr>
            <a:xfrm>
              <a:off x="1019282" y="2244511"/>
              <a:ext cx="2822834" cy="2822834"/>
              <a:chOff x="1135753" y="2870834"/>
              <a:chExt cx="2650371" cy="2650371"/>
            </a:xfrm>
          </p:grpSpPr>
          <p:sp>
            <p:nvSpPr>
              <p:cNvPr id="12" name="Elipse 11">
                <a:extLst>
                  <a:ext uri="{FF2B5EF4-FFF2-40B4-BE49-F238E27FC236}">
                    <a16:creationId xmlns:a16="http://schemas.microsoft.com/office/drawing/2014/main" id="{7081B2A2-FB70-48A5-85E7-11A978CA7025}"/>
                  </a:ext>
                </a:extLst>
              </p:cNvPr>
              <p:cNvSpPr/>
              <p:nvPr/>
            </p:nvSpPr>
            <p:spPr>
              <a:xfrm>
                <a:off x="1368727" y="3103808"/>
                <a:ext cx="2184425" cy="2184425"/>
              </a:xfrm>
              <a:prstGeom prst="ellipse">
                <a:avLst/>
              </a:prstGeom>
              <a:gradFill>
                <a:gsLst>
                  <a:gs pos="0">
                    <a:srgbClr val="2A008A"/>
                  </a:gs>
                  <a:gs pos="100000">
                    <a:srgbClr val="025BA5"/>
                  </a:gs>
                </a:gsLst>
                <a:path path="circle">
                  <a:fillToRect r="100000" b="100000"/>
                </a:path>
              </a:gra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 name="Elipse 13">
                <a:extLst>
                  <a:ext uri="{FF2B5EF4-FFF2-40B4-BE49-F238E27FC236}">
                    <a16:creationId xmlns:a16="http://schemas.microsoft.com/office/drawing/2014/main" id="{350B684F-1083-44D5-ADD1-E17BB31EFF87}"/>
                  </a:ext>
                </a:extLst>
              </p:cNvPr>
              <p:cNvSpPr/>
              <p:nvPr/>
            </p:nvSpPr>
            <p:spPr>
              <a:xfrm>
                <a:off x="1448121" y="3183202"/>
                <a:ext cx="2040666" cy="2040666"/>
              </a:xfrm>
              <a:prstGeom prst="ellipse">
                <a:avLst/>
              </a:prstGeom>
              <a:solidFill>
                <a:schemeClr val="bg1"/>
              </a:solidFill>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000" dirty="0">
                  <a:latin typeface="Quango" panose="02000000000000000000" pitchFamily="50" charset="0"/>
                </a:endParaRPr>
              </a:p>
            </p:txBody>
          </p:sp>
          <p:sp>
            <p:nvSpPr>
              <p:cNvPr id="15" name="Arco 14">
                <a:extLst>
                  <a:ext uri="{FF2B5EF4-FFF2-40B4-BE49-F238E27FC236}">
                    <a16:creationId xmlns:a16="http://schemas.microsoft.com/office/drawing/2014/main" id="{989BBC02-3FF6-4420-BF24-B05CAEB6DB35}"/>
                  </a:ext>
                </a:extLst>
              </p:cNvPr>
              <p:cNvSpPr/>
              <p:nvPr/>
            </p:nvSpPr>
            <p:spPr>
              <a:xfrm>
                <a:off x="1135753" y="2870834"/>
                <a:ext cx="2650371" cy="2650371"/>
              </a:xfrm>
              <a:prstGeom prst="arc">
                <a:avLst>
                  <a:gd name="adj1" fmla="val 16200000"/>
                  <a:gd name="adj2" fmla="val 5251475"/>
                </a:avLst>
              </a:prstGeo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grpSp>
        <p:sp>
          <p:nvSpPr>
            <p:cNvPr id="65" name="Elipse 64">
              <a:extLst>
                <a:ext uri="{FF2B5EF4-FFF2-40B4-BE49-F238E27FC236}">
                  <a16:creationId xmlns:a16="http://schemas.microsoft.com/office/drawing/2014/main" id="{4EB39C80-B8DB-4B27-BCA1-B273105FD83D}"/>
                </a:ext>
              </a:extLst>
            </p:cNvPr>
            <p:cNvSpPr/>
            <p:nvPr/>
          </p:nvSpPr>
          <p:spPr>
            <a:xfrm>
              <a:off x="2683435" y="214003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6" name="Elipse 65">
              <a:extLst>
                <a:ext uri="{FF2B5EF4-FFF2-40B4-BE49-F238E27FC236}">
                  <a16:creationId xmlns:a16="http://schemas.microsoft.com/office/drawing/2014/main" id="{B2EEFE57-ABE3-4C3A-9BCB-16396DAFC3BB}"/>
                </a:ext>
              </a:extLst>
            </p:cNvPr>
            <p:cNvSpPr/>
            <p:nvPr/>
          </p:nvSpPr>
          <p:spPr>
            <a:xfrm>
              <a:off x="3287042" y="244834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7" name="Elipse 66">
              <a:extLst>
                <a:ext uri="{FF2B5EF4-FFF2-40B4-BE49-F238E27FC236}">
                  <a16:creationId xmlns:a16="http://schemas.microsoft.com/office/drawing/2014/main" id="{F0C736ED-DE40-4DF7-81B0-F74F91034678}"/>
                </a:ext>
              </a:extLst>
            </p:cNvPr>
            <p:cNvSpPr/>
            <p:nvPr/>
          </p:nvSpPr>
          <p:spPr>
            <a:xfrm>
              <a:off x="3639655" y="3073802"/>
              <a:ext cx="352613" cy="35261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8" name="Elipse 67">
              <a:extLst>
                <a:ext uri="{FF2B5EF4-FFF2-40B4-BE49-F238E27FC236}">
                  <a16:creationId xmlns:a16="http://schemas.microsoft.com/office/drawing/2014/main" id="{179AB9D6-E7BF-4B43-9011-0537849E504B}"/>
                </a:ext>
              </a:extLst>
            </p:cNvPr>
            <p:cNvSpPr/>
            <p:nvPr/>
          </p:nvSpPr>
          <p:spPr>
            <a:xfrm>
              <a:off x="3676078" y="3732172"/>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9" name="Elipse 68">
              <a:extLst>
                <a:ext uri="{FF2B5EF4-FFF2-40B4-BE49-F238E27FC236}">
                  <a16:creationId xmlns:a16="http://schemas.microsoft.com/office/drawing/2014/main" id="{7CF67F71-0447-481D-8A88-D96ACF045EA6}"/>
                </a:ext>
              </a:extLst>
            </p:cNvPr>
            <p:cNvSpPr/>
            <p:nvPr/>
          </p:nvSpPr>
          <p:spPr>
            <a:xfrm>
              <a:off x="3373764" y="4384807"/>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0" name="Elipse 69">
              <a:extLst>
                <a:ext uri="{FF2B5EF4-FFF2-40B4-BE49-F238E27FC236}">
                  <a16:creationId xmlns:a16="http://schemas.microsoft.com/office/drawing/2014/main" id="{3FFD7164-83CB-4DFB-9350-6BE8AAD7D1CC}"/>
                </a:ext>
              </a:extLst>
            </p:cNvPr>
            <p:cNvSpPr/>
            <p:nvPr/>
          </p:nvSpPr>
          <p:spPr>
            <a:xfrm>
              <a:off x="2724861" y="4835220"/>
              <a:ext cx="304780" cy="294163"/>
            </a:xfrm>
            <a:prstGeom prst="ellipse">
              <a:avLst/>
            </a:prstGeom>
            <a:gradFill>
              <a:gsLst>
                <a:gs pos="0">
                  <a:srgbClr val="2A008A"/>
                </a:gs>
                <a:gs pos="100000">
                  <a:srgbClr val="025BA5"/>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50" name="Gráfico 49">
              <a:extLst>
                <a:ext uri="{FF2B5EF4-FFF2-40B4-BE49-F238E27FC236}">
                  <a16:creationId xmlns:a16="http://schemas.microsoft.com/office/drawing/2014/main" id="{E263559D-0611-43D6-908F-1580961A40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06143" y="3350818"/>
              <a:ext cx="1839615" cy="650904"/>
            </a:xfrm>
            <a:prstGeom prst="rect">
              <a:avLst/>
            </a:prstGeom>
          </p:spPr>
        </p:pic>
      </p:grpSp>
      <p:pic>
        <p:nvPicPr>
          <p:cNvPr id="46" name="Picture 6" descr="Logo servicio nacional de aprendizaje sena simbolo servicio de  entrenamiento nacional, logo de dragon ball, ángulo, texto png | PNGEgg">
            <a:extLst>
              <a:ext uri="{FF2B5EF4-FFF2-40B4-BE49-F238E27FC236}">
                <a16:creationId xmlns:a16="http://schemas.microsoft.com/office/drawing/2014/main" id="{5694B648-ADC1-4693-8608-294DC3AFE27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rupo 61">
            <a:extLst>
              <a:ext uri="{FF2B5EF4-FFF2-40B4-BE49-F238E27FC236}">
                <a16:creationId xmlns:a16="http://schemas.microsoft.com/office/drawing/2014/main" id="{717BB3DD-0690-46CE-B01E-FAE9BFC27241}"/>
              </a:ext>
            </a:extLst>
          </p:cNvPr>
          <p:cNvGrpSpPr/>
          <p:nvPr/>
        </p:nvGrpSpPr>
        <p:grpSpPr>
          <a:xfrm>
            <a:off x="5372190" y="349223"/>
            <a:ext cx="5909182" cy="1477328"/>
            <a:chOff x="5755948" y="416190"/>
            <a:chExt cx="5909182" cy="1477328"/>
          </a:xfrm>
        </p:grpSpPr>
        <p:sp>
          <p:nvSpPr>
            <p:cNvPr id="64" name="CuadroTexto 63">
              <a:extLst>
                <a:ext uri="{FF2B5EF4-FFF2-40B4-BE49-F238E27FC236}">
                  <a16:creationId xmlns:a16="http://schemas.microsoft.com/office/drawing/2014/main" id="{E1A75E02-B923-4C4E-8E50-5F446931A9E0}"/>
                </a:ext>
              </a:extLst>
            </p:cNvPr>
            <p:cNvSpPr txBox="1"/>
            <p:nvPr/>
          </p:nvSpPr>
          <p:spPr>
            <a:xfrm>
              <a:off x="6562015" y="416190"/>
              <a:ext cx="5103115" cy="1477328"/>
            </a:xfrm>
            <a:prstGeom prst="rect">
              <a:avLst/>
            </a:prstGeom>
            <a:noFill/>
          </p:spPr>
          <p:txBody>
            <a:bodyPr wrap="square" rtlCol="0">
              <a:spAutoFit/>
            </a:bodyPr>
            <a:lstStyle/>
            <a:p>
              <a:r>
                <a:rPr lang="es-ES" sz="4500" dirty="0">
                  <a:latin typeface="Quango" panose="02000000000000000000" pitchFamily="50" charset="0"/>
                </a:rPr>
                <a:t>Diagrama de GANTT</a:t>
              </a:r>
            </a:p>
          </p:txBody>
        </p:sp>
        <p:sp>
          <p:nvSpPr>
            <p:cNvPr id="71" name="Elipse 70">
              <a:extLst>
                <a:ext uri="{FF2B5EF4-FFF2-40B4-BE49-F238E27FC236}">
                  <a16:creationId xmlns:a16="http://schemas.microsoft.com/office/drawing/2014/main" id="{CE7AD9B7-3257-4AC7-83CF-D31871BD8359}"/>
                </a:ext>
              </a:extLst>
            </p:cNvPr>
            <p:cNvSpPr/>
            <p:nvPr/>
          </p:nvSpPr>
          <p:spPr>
            <a:xfrm>
              <a:off x="5755948" y="507026"/>
              <a:ext cx="680103" cy="680103"/>
            </a:xfrm>
            <a:prstGeom prst="ellipse">
              <a:avLst/>
            </a:prstGeom>
            <a:gradFill>
              <a:gsLst>
                <a:gs pos="0">
                  <a:srgbClr val="025BA5"/>
                </a:gs>
                <a:gs pos="100000">
                  <a:srgbClr val="2A008A"/>
                </a:gs>
              </a:gsLst>
              <a:path path="circle">
                <a:fillToRect l="100000" t="100000"/>
              </a:path>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grpSp>
    </p:spTree>
    <p:extLst>
      <p:ext uri="{BB962C8B-B14F-4D97-AF65-F5344CB8AC3E}">
        <p14:creationId xmlns:p14="http://schemas.microsoft.com/office/powerpoint/2010/main" val="249169323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4344969" y="415547"/>
            <a:ext cx="3728280" cy="812752"/>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Resumen</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132142" y="1561830"/>
            <a:ext cx="10153934" cy="4069319"/>
          </a:xfrm>
          <a:prstGeom prst="rect">
            <a:avLst/>
          </a:prstGeom>
          <a:noFill/>
        </p:spPr>
        <p:txBody>
          <a:bodyPr wrap="square" rtlCol="0">
            <a:spAutoFit/>
          </a:bodyPr>
          <a:lstStyle/>
          <a:p>
            <a:pPr>
              <a:lnSpc>
                <a:spcPct val="107000"/>
              </a:lnSpc>
              <a:spcAft>
                <a:spcPts val="800"/>
              </a:spcAft>
            </a:pPr>
            <a:r>
              <a:rPr lang="es-ES" b="1" dirty="0">
                <a:effectLst>
                  <a:outerShdw blurRad="38100" dist="38100" dir="2700000" algn="tl">
                    <a:srgbClr val="000000">
                      <a:alpha val="43137"/>
                    </a:srgbClr>
                  </a:outerShdw>
                </a:effectLst>
                <a:latin typeface="Montserrat Thin" panose="00000300000000000000" pitchFamily="2" charset="0"/>
                <a:ea typeface="Calibri" panose="020F0502020204030204" pitchFamily="34" charset="0"/>
                <a:cs typeface="Times New Roman" panose="02020603050405020304" pitchFamily="18" charset="0"/>
              </a:rPr>
              <a:t>JINRO ONLINE SHOPPING</a:t>
            </a:r>
            <a:r>
              <a:rPr lang="es-ES" dirty="0">
                <a:effectLst>
                  <a:outerShdw blurRad="38100" dist="38100" dir="2700000" algn="tl">
                    <a:srgbClr val="000000">
                      <a:alpha val="43137"/>
                    </a:srgbClr>
                  </a:outerShdw>
                </a:effectLst>
                <a:latin typeface="Montserrat Thin" panose="00000300000000000000" pitchFamily="2" charset="0"/>
                <a:ea typeface="Calibri" panose="020F0502020204030204" pitchFamily="34" charset="0"/>
                <a:cs typeface="Times New Roman" panose="02020603050405020304" pitchFamily="18" charset="0"/>
              </a:rPr>
              <a:t>, </a:t>
            </a:r>
            <a:r>
              <a:rPr lang="es-ES" dirty="0">
                <a:effectLst/>
                <a:latin typeface="Montserrat Thin" panose="00000300000000000000" pitchFamily="2" charset="0"/>
                <a:ea typeface="Calibri" panose="020F0502020204030204" pitchFamily="34" charset="0"/>
                <a:cs typeface="Times New Roman" panose="02020603050405020304" pitchFamily="18" charset="0"/>
              </a:rPr>
              <a:t>es </a:t>
            </a:r>
            <a:r>
              <a:rPr lang="es-ES" dirty="0">
                <a:latin typeface="Montserrat Thin" panose="00000300000000000000" pitchFamily="2" charset="0"/>
                <a:ea typeface="Calibri" panose="020F0502020204030204" pitchFamily="34" charset="0"/>
                <a:cs typeface="Times New Roman" panose="02020603050405020304" pitchFamily="18" charset="0"/>
              </a:rPr>
              <a:t>una plataforma online</a:t>
            </a:r>
            <a:r>
              <a:rPr lang="es-ES" dirty="0">
                <a:effectLst/>
                <a:latin typeface="Montserrat Thin" panose="00000300000000000000" pitchFamily="2" charset="0"/>
                <a:ea typeface="Calibri" panose="020F0502020204030204" pitchFamily="34" charset="0"/>
                <a:cs typeface="Times New Roman" panose="02020603050405020304" pitchFamily="18" charset="0"/>
              </a:rPr>
              <a:t> que nace de las siguientes preguntas: ¿Por qué quiero crear una tienda online en este momento? ¿Cuáles son las ventajas para mi negocio? ¿Qué quiero conseguir creando una plataforma online de ventas? ¿Cómo saber si va a tener éxito la creación de esta plataforma de ventas online?</a:t>
            </a:r>
          </a:p>
          <a:p>
            <a:pPr>
              <a:lnSpc>
                <a:spcPct val="107000"/>
              </a:lnSpc>
              <a:spcAft>
                <a:spcPts val="800"/>
              </a:spcAft>
            </a:pPr>
            <a:r>
              <a:rPr lang="es-ES" dirty="0">
                <a:effectLst/>
                <a:latin typeface="Montserrat Thin" panose="00000300000000000000" pitchFamily="2" charset="0"/>
                <a:ea typeface="Calibri" panose="020F0502020204030204" pitchFamily="34" charset="0"/>
                <a:cs typeface="Times New Roman" panose="02020603050405020304" pitchFamily="18" charset="0"/>
              </a:rPr>
              <a:t>Ahora bien, en la investigación que se ha realizado por todo el tema de la reactivación de los negocios en donde hemos podido evidenciar que los comercios como los bares, se han tenido que reinventar para poder vender sus productos de alguna forma y no tener que cerrar como muchos negocios en Colombia tuvieron que hacerlo, por lo tanto la idea de este negocio es ayudar con esta reactivación y crear una plataforma en donde se manejen las ventas online de los productos que ofrece este bar, adicional de manejar una base de datos organizada de los productos, del stock que se tiene y  de las ventas que se generan en físico o por la plataforma que se desea crear. </a:t>
            </a:r>
          </a:p>
          <a:p>
            <a:endParaRPr lang="es-ES" sz="1400" dirty="0"/>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14362"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7EB72136-8EA9-4E18-B62D-A84102CF996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0014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4312885" y="415547"/>
            <a:ext cx="3728280" cy="812752"/>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Resumen</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100058" y="1834544"/>
            <a:ext cx="10153934" cy="2655279"/>
          </a:xfrm>
          <a:prstGeom prst="rect">
            <a:avLst/>
          </a:prstGeom>
          <a:noFill/>
        </p:spPr>
        <p:txBody>
          <a:bodyPr wrap="square" rtlCol="0">
            <a:spAutoFit/>
          </a:bodyPr>
          <a:lstStyle>
            <a:defPPr>
              <a:defRPr lang="en-US"/>
            </a:defPPr>
            <a:lvl1pPr>
              <a:lnSpc>
                <a:spcPct val="107000"/>
              </a:lnSpc>
              <a:spcAft>
                <a:spcPts val="800"/>
              </a:spcAft>
              <a:defRPr b="1">
                <a:effectLst>
                  <a:outerShdw blurRad="38100" dist="38100" dir="2700000" algn="tl">
                    <a:srgbClr val="000000">
                      <a:alpha val="43137"/>
                    </a:srgbClr>
                  </a:outerShdw>
                </a:effectLst>
                <a:latin typeface="Montserrat Thin" panose="00000300000000000000" pitchFamily="2" charset="0"/>
                <a:ea typeface="Calibri" panose="020F0502020204030204" pitchFamily="34" charset="0"/>
                <a:cs typeface="Times New Roman" panose="02020603050405020304" pitchFamily="18" charset="0"/>
              </a:defRPr>
            </a:lvl1pPr>
          </a:lstStyle>
          <a:p>
            <a:r>
              <a:rPr lang="es-ES" b="0" dirty="0">
                <a:effectLst/>
              </a:rPr>
              <a:t>A raíz de la pandemia, el e-</a:t>
            </a:r>
            <a:r>
              <a:rPr lang="es-ES" b="0" dirty="0" err="1">
                <a:effectLst/>
              </a:rPr>
              <a:t>commerce</a:t>
            </a:r>
            <a:r>
              <a:rPr lang="es-ES" b="0" dirty="0">
                <a:effectLst/>
              </a:rPr>
              <a:t> se convirtió en una necesidad para los empresarios para poder subsistir y mantener sus negocios con el fin de atender la creciente demanda de consumidores virtuales y minimizar los riesgos y gastos que supone cualquier tienda física.</a:t>
            </a:r>
          </a:p>
          <a:p>
            <a:r>
              <a:rPr lang="es-ES" b="0" dirty="0">
                <a:effectLst/>
              </a:rPr>
              <a:t>Según cifras de la firma Nasdaq, se estima que para el año 2040, el 95 % de las compras en el mundo se realizarán de manera ‘online’. Además, para el caso de Colombia, datos de la Cámara Colombiana de Comercio Electrónico (CCCE) revelan que el e-</a:t>
            </a:r>
            <a:r>
              <a:rPr lang="es-ES" b="0" dirty="0" err="1">
                <a:effectLst/>
              </a:rPr>
              <a:t>commerce</a:t>
            </a:r>
            <a:r>
              <a:rPr lang="es-ES" b="0" dirty="0">
                <a:effectLst/>
              </a:rPr>
              <a:t> presentará indicadores positivos y tendrá un crecimiento del 16 % al cierre de 2021.</a:t>
            </a:r>
          </a:p>
          <a:p>
            <a:endParaRPr lang="es-ES" dirty="0"/>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DD47C6BD-CB20-410B-9E51-3064D23DBF44}"/>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90642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800162" y="192506"/>
            <a:ext cx="6753726" cy="1834544"/>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Planteamiento</a:t>
            </a:r>
            <a:r>
              <a:rPr lang="es-ES" sz="6000" dirty="0">
                <a:latin typeface="Quango" panose="02000000000000000000" pitchFamily="50" charset="0"/>
              </a:rPr>
              <a:t> </a:t>
            </a:r>
            <a:r>
              <a:rPr lang="es-ES" sz="6000" dirty="0">
                <a:solidFill>
                  <a:schemeClr val="tx1"/>
                </a:solidFill>
                <a:latin typeface="Quango" panose="02000000000000000000" pitchFamily="50" charset="0"/>
              </a:rPr>
              <a:t>del problema</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100058" y="2273978"/>
            <a:ext cx="10153934" cy="3335337"/>
          </a:xfrm>
          <a:prstGeom prst="rect">
            <a:avLst/>
          </a:prstGeom>
          <a:noFill/>
        </p:spPr>
        <p:txBody>
          <a:bodyPr wrap="square" rtlCol="0">
            <a:spAutoFit/>
          </a:bodyPr>
          <a:lstStyle>
            <a:defPPr>
              <a:defRPr lang="en-US"/>
            </a:defPPr>
            <a:lvl1pPr>
              <a:lnSpc>
                <a:spcPct val="107000"/>
              </a:lnSpc>
              <a:spcAft>
                <a:spcPts val="800"/>
              </a:spcAft>
              <a:defRPr b="0">
                <a:effectLst/>
                <a:latin typeface="Montserrat Thin" panose="00000300000000000000" pitchFamily="2" charset="0"/>
                <a:ea typeface="Calibri" panose="020F0502020204030204" pitchFamily="34" charset="0"/>
                <a:cs typeface="Times New Roman" panose="02020603050405020304" pitchFamily="18" charset="0"/>
              </a:defRPr>
            </a:lvl1pPr>
          </a:lstStyle>
          <a:p>
            <a:r>
              <a:rPr lang="es-ES" dirty="0"/>
              <a:t>El bar </a:t>
            </a:r>
            <a:r>
              <a:rPr lang="es-ES" dirty="0" err="1"/>
              <a:t>Star</a:t>
            </a:r>
            <a:r>
              <a:rPr lang="es-ES" dirty="0"/>
              <a:t> </a:t>
            </a:r>
            <a:r>
              <a:rPr lang="es-ES" dirty="0" err="1"/>
              <a:t>Wars</a:t>
            </a:r>
            <a:r>
              <a:rPr lang="es-ES" dirty="0"/>
              <a:t> ubicado en el centro Comercial Unisur, </a:t>
            </a:r>
            <a:r>
              <a:rPr lang="es-ES" dirty="0">
                <a:latin typeface="Montserrat Thin" panose="00000300000000000000" pitchFamily="2" charset="0"/>
                <a:cs typeface="Times New Roman" panose="02020603050405020304" pitchFamily="18" charset="0"/>
              </a:rPr>
              <a:t>local 017 en la  </a:t>
            </a:r>
            <a:r>
              <a:rPr lang="es-ES" dirty="0" err="1">
                <a:latin typeface="Montserrat Thin" panose="00000300000000000000" pitchFamily="2" charset="0"/>
                <a:cs typeface="Times New Roman" panose="02020603050405020304" pitchFamily="18" charset="0"/>
              </a:rPr>
              <a:t>Cra</a:t>
            </a:r>
            <a:r>
              <a:rPr lang="es-ES" dirty="0">
                <a:latin typeface="Montserrat Thin" panose="00000300000000000000" pitchFamily="2" charset="0"/>
                <a:cs typeface="Times New Roman" panose="02020603050405020304" pitchFamily="18" charset="0"/>
              </a:rPr>
              <a:t> 4 # 28 – 10 San Mateo, Soacha, es un bar con una temática basada en la pel</a:t>
            </a:r>
            <a:r>
              <a:rPr lang="es-ES" dirty="0"/>
              <a:t>ícula de acción </a:t>
            </a:r>
            <a:r>
              <a:rPr lang="es-ES" dirty="0" err="1"/>
              <a:t>Star</a:t>
            </a:r>
            <a:r>
              <a:rPr lang="es-ES" dirty="0"/>
              <a:t> </a:t>
            </a:r>
            <a:r>
              <a:rPr lang="es-ES" dirty="0" err="1"/>
              <a:t>Wars</a:t>
            </a:r>
            <a:r>
              <a:rPr lang="es-ES" dirty="0"/>
              <a:t>, de allí sale el nombre, en esta empresa se venden productos como comidas rápidas y especiales, diferentes cocteles y todo el servicio de tragos.  En este bar se puede disfrutar de dos ambientes diferentes de música ya que cuanta con dos pisos en donde se puede disfrutar de música diferente. En el bar se manejan procesos como la dirección, el marketing, la contabilidad y las finanzas que son manejadas por el dueño, la parte de reporte de ventas y administrativa, la maneja el administrador del bar, al recepción, toma de pedidos en manejada por los meseros, la realización de pedidos es manejada por ayudante del administrador y por el administrador y por ultimo la gestión de compra, contratación y tics, es manejado por el dueño en colaboración de administrador. </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AF386107-530A-4B1A-9E2E-F1AD74E0EE78}"/>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1598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800162" y="192506"/>
            <a:ext cx="6753726" cy="1834544"/>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Planteamiento</a:t>
            </a:r>
            <a:r>
              <a:rPr lang="es-ES" sz="6000" dirty="0">
                <a:latin typeface="Quango" panose="02000000000000000000" pitchFamily="50" charset="0"/>
              </a:rPr>
              <a:t> </a:t>
            </a:r>
            <a:r>
              <a:rPr lang="es-ES" sz="6000" dirty="0">
                <a:solidFill>
                  <a:schemeClr val="tx1"/>
                </a:solidFill>
                <a:latin typeface="Quango" panose="02000000000000000000" pitchFamily="50" charset="0"/>
              </a:rPr>
              <a:t>del problema</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100058" y="2273978"/>
            <a:ext cx="10153934" cy="1853521"/>
          </a:xfrm>
          <a:prstGeom prst="rect">
            <a:avLst/>
          </a:prstGeom>
          <a:noFill/>
        </p:spPr>
        <p:txBody>
          <a:bodyPr wrap="square" rtlCol="0">
            <a:spAutoFit/>
          </a:bodyPr>
          <a:lstStyle>
            <a:defPPr>
              <a:defRPr lang="en-US"/>
            </a:defPPr>
            <a:lvl1pPr>
              <a:lnSpc>
                <a:spcPct val="107000"/>
              </a:lnSpc>
              <a:spcAft>
                <a:spcPts val="800"/>
              </a:spcAft>
              <a:defRPr b="0">
                <a:effectLst/>
                <a:latin typeface="Montserrat Thin" panose="00000300000000000000" pitchFamily="2" charset="0"/>
                <a:ea typeface="Calibri" panose="020F0502020204030204" pitchFamily="34" charset="0"/>
                <a:cs typeface="Times New Roman" panose="02020603050405020304" pitchFamily="18" charset="0"/>
              </a:defRPr>
            </a:lvl1pPr>
          </a:lstStyle>
          <a:p>
            <a:r>
              <a:rPr lang="es-ES" dirty="0"/>
              <a:t>El levantamiento de información, se realizo con entrevistas a cada uno de los colaboradores del bar, para poder obtener información de las funciones generales de cada uno  y así tener claras las funciones que cumplen en los procesos, adicional de tener contacto con el dueño del bar para saber como maneja la parte de control de stock de productos y las ventas que realiza en el bar, y como saca el registro de las mismas para </a:t>
            </a:r>
            <a:r>
              <a:rPr lang="es-ES" dirty="0" err="1"/>
              <a:t>asi</a:t>
            </a:r>
            <a:r>
              <a:rPr lang="es-ES" dirty="0"/>
              <a:t> tener en claro que va a manejar el sistema y como lo va a manejar. </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AF386107-530A-4B1A-9E2E-F1AD74E0EE78}"/>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91630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960582" y="336885"/>
            <a:ext cx="6753726" cy="1026694"/>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Objetivo General</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260478" y="2101518"/>
            <a:ext cx="10153934" cy="1260794"/>
          </a:xfrm>
          <a:prstGeom prst="rect">
            <a:avLst/>
          </a:prstGeom>
          <a:noFill/>
        </p:spPr>
        <p:txBody>
          <a:bodyPr wrap="square" rtlCol="0">
            <a:spAutoFit/>
          </a:bodyPr>
          <a:lstStyle>
            <a:defPPr>
              <a:defRPr lang="en-US"/>
            </a:defPPr>
            <a:lvl1pPr marL="285750" indent="-285750">
              <a:lnSpc>
                <a:spcPct val="107000"/>
              </a:lnSpc>
              <a:spcAft>
                <a:spcPts val="800"/>
              </a:spcAft>
              <a:buFont typeface="Wingdings" panose="05000000000000000000" pitchFamily="2" charset="2"/>
              <a:buChar char="q"/>
              <a:defRPr b="0">
                <a:effectLst/>
                <a:latin typeface="Montserrat Thin" panose="00000300000000000000" pitchFamily="2" charset="0"/>
                <a:ea typeface="Calibri" panose="020F0502020204030204" pitchFamily="34" charset="0"/>
                <a:cs typeface="Times New Roman" panose="02020603050405020304" pitchFamily="18" charset="0"/>
              </a:defRPr>
            </a:lvl1pPr>
          </a:lstStyle>
          <a:p>
            <a:pPr marL="0" indent="0">
              <a:buNone/>
            </a:pPr>
            <a:r>
              <a:rPr lang="es-ES" dirty="0"/>
              <a:t>Desarrollar un sistema de información web,  llamado Jinro Online Shopping, para el apoyo de los procesos de dirección, marketing, contabilidad y finanzas, necesidad del cliente en creación de pedidos, control de stock de productos, reporte de ventas para la gestión de compras, y el por ultimo el proceso de uso de las tics. </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FFA6B038-93B6-49D1-8CBB-6F5EA740821E}"/>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7443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sp>
        <p:nvSpPr>
          <p:cNvPr id="7" name="Título 1">
            <a:extLst>
              <a:ext uri="{FF2B5EF4-FFF2-40B4-BE49-F238E27FC236}">
                <a16:creationId xmlns:a16="http://schemas.microsoft.com/office/drawing/2014/main" id="{74F5ECCF-AABA-44C8-A524-3820F2AA0470}"/>
              </a:ext>
            </a:extLst>
          </p:cNvPr>
          <p:cNvSpPr txBox="1">
            <a:spLocks/>
          </p:cNvSpPr>
          <p:nvPr/>
        </p:nvSpPr>
        <p:spPr>
          <a:xfrm>
            <a:off x="2960582" y="272716"/>
            <a:ext cx="6753726" cy="1764633"/>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Objetivos Específicos</a:t>
            </a:r>
          </a:p>
        </p:txBody>
      </p:sp>
      <p:sp>
        <p:nvSpPr>
          <p:cNvPr id="10" name="CuadroTexto 9">
            <a:extLst>
              <a:ext uri="{FF2B5EF4-FFF2-40B4-BE49-F238E27FC236}">
                <a16:creationId xmlns:a16="http://schemas.microsoft.com/office/drawing/2014/main" id="{4C3F8509-117F-45D2-8B6A-7EBD85D7F1EE}"/>
              </a:ext>
            </a:extLst>
          </p:cNvPr>
          <p:cNvSpPr txBox="1"/>
          <p:nvPr/>
        </p:nvSpPr>
        <p:spPr>
          <a:xfrm>
            <a:off x="1260478" y="2163487"/>
            <a:ext cx="10153934" cy="3050387"/>
          </a:xfrm>
          <a:prstGeom prst="rect">
            <a:avLst/>
          </a:prstGeom>
          <a:noFill/>
        </p:spPr>
        <p:txBody>
          <a:bodyPr wrap="square" rtlCol="0">
            <a:spAutoFit/>
          </a:bodyPr>
          <a:lstStyle>
            <a:defPPr>
              <a:defRPr lang="en-US"/>
            </a:defPPr>
            <a:lvl1pPr marL="285750" indent="-285750">
              <a:lnSpc>
                <a:spcPct val="107000"/>
              </a:lnSpc>
              <a:spcAft>
                <a:spcPts val="800"/>
              </a:spcAft>
              <a:buFont typeface="Wingdings" panose="05000000000000000000" pitchFamily="2" charset="2"/>
              <a:buChar char="q"/>
              <a:defRPr b="0">
                <a:effectLst/>
                <a:latin typeface="Montserrat Thin" panose="00000300000000000000" pitchFamily="2" charset="0"/>
                <a:ea typeface="Calibri" panose="020F0502020204030204" pitchFamily="34" charset="0"/>
                <a:cs typeface="Times New Roman" panose="02020603050405020304" pitchFamily="18" charset="0"/>
              </a:defRPr>
            </a:lvl1pPr>
          </a:lstStyle>
          <a:p>
            <a:pPr marL="0" indent="0">
              <a:buNone/>
            </a:pPr>
            <a:r>
              <a:rPr lang="es-ES" dirty="0"/>
              <a:t>El sistema de información Jinro Online shopping gestionara el registro de los usuarios que ingresen a la plataforma adicional de manejar diferentes perfiles para el gerente y el administrador con sus permisos específicos.</a:t>
            </a:r>
          </a:p>
          <a:p>
            <a:pPr marL="0" indent="0">
              <a:buNone/>
            </a:pPr>
            <a:r>
              <a:rPr lang="es-ES" dirty="0"/>
              <a:t>Gestionara el control de ventas que se realicen en el bar por medio de reportes semanales, quincenales y mensuales.</a:t>
            </a:r>
          </a:p>
          <a:p>
            <a:pPr marL="0" indent="0">
              <a:buNone/>
            </a:pPr>
            <a:r>
              <a:rPr lang="es-ES" dirty="0"/>
              <a:t>Gestionara el control del inventario o stock de productos del bar, para tener el control del proceso de gestión de compras. </a:t>
            </a:r>
          </a:p>
          <a:p>
            <a:pPr marL="0" indent="0">
              <a:buNone/>
            </a:pPr>
            <a:r>
              <a:rPr lang="es-ES" dirty="0"/>
              <a:t>Gestionara el control de impresos y  gráficos de la empresa, con el control de facturación de pedidos y detalles de reportes de ventas realizadas. </a:t>
            </a:r>
          </a:p>
        </p:txBody>
      </p:sp>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8718E123-2DE4-40F8-B0AC-47AA1C79A48E}"/>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46226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800162" y="192506"/>
            <a:ext cx="6753726" cy="1058778"/>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Justificación</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109434" y="1682536"/>
            <a:ext cx="10153934" cy="4093428"/>
          </a:xfrm>
          <a:prstGeom prst="rect">
            <a:avLst/>
          </a:prstGeom>
          <a:noFill/>
        </p:spPr>
        <p:txBody>
          <a:bodyPr wrap="square" rtlCol="0">
            <a:spAutoFit/>
          </a:bodyPr>
          <a:lstStyle/>
          <a:p>
            <a:pPr>
              <a:spcAft>
                <a:spcPts val="2400"/>
              </a:spcAft>
            </a:pPr>
            <a:r>
              <a:rPr lang="es-ES" dirty="0">
                <a:latin typeface="Montserrat Thin" panose="00000300000000000000" pitchFamily="2" charset="0"/>
                <a:cs typeface="Times New Roman" panose="02020603050405020304" pitchFamily="18" charset="0"/>
              </a:rPr>
              <a:t>Tener control de inventario de productos y su stock en el sistema de información, apoyando el proceso de gestión de compras. </a:t>
            </a:r>
          </a:p>
          <a:p>
            <a:pPr>
              <a:spcAft>
                <a:spcPts val="2400"/>
              </a:spcAft>
            </a:pPr>
            <a:r>
              <a:rPr lang="es-ES" dirty="0">
                <a:latin typeface="Montserrat Thin" panose="00000300000000000000" pitchFamily="2" charset="0"/>
                <a:cs typeface="Times New Roman" panose="02020603050405020304" pitchFamily="18" charset="0"/>
              </a:rPr>
              <a:t>Tener el control de los reportes de ventas del bar  y así apoyar el proceso de dirección y de contabilidad y finanza. </a:t>
            </a:r>
          </a:p>
          <a:p>
            <a:pPr>
              <a:spcAft>
                <a:spcPts val="2400"/>
              </a:spcAft>
            </a:pPr>
            <a:r>
              <a:rPr lang="es-ES" dirty="0">
                <a:latin typeface="Montserrat Thin" panose="00000300000000000000" pitchFamily="2" charset="0"/>
                <a:cs typeface="Times New Roman" panose="02020603050405020304" pitchFamily="18" charset="0"/>
              </a:rPr>
              <a:t>El sistema de información enviara un alerta o notificación al administrador del bar, apoyando los procesos de recepción y toma de pedidos. </a:t>
            </a:r>
          </a:p>
          <a:p>
            <a:pPr>
              <a:spcAft>
                <a:spcPts val="2400"/>
              </a:spcAft>
            </a:pPr>
            <a:r>
              <a:rPr lang="es-ES" dirty="0">
                <a:latin typeface="Montserrat Thin" panose="00000300000000000000" pitchFamily="2" charset="0"/>
                <a:cs typeface="Times New Roman" panose="02020603050405020304" pitchFamily="18" charset="0"/>
              </a:rPr>
              <a:t>El sistema de información permitirá al dueño del bar imprimir el reporte de las ventas semanales, quincenales y mensuales, para tener pruebas físicas de ser necesitadas. </a:t>
            </a:r>
          </a:p>
          <a:p>
            <a:pPr>
              <a:spcAft>
                <a:spcPts val="2400"/>
              </a:spcAft>
            </a:pPr>
            <a:r>
              <a:rPr lang="es-ES" dirty="0">
                <a:latin typeface="Montserrat Thin" panose="00000300000000000000" pitchFamily="2" charset="0"/>
                <a:cs typeface="Times New Roman" panose="02020603050405020304" pitchFamily="18" charset="0"/>
              </a:rPr>
              <a:t>El sistema de información le permitirá al clientes realizar sus pedidos para ser disfrutados en el bar o a domicilio, apoyado el proceso de satisfacción del cliente y de marketing. </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51BC4816-88C9-4E13-BF4D-E60E078369A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947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800162" y="192506"/>
            <a:ext cx="6753726" cy="1058778"/>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Alcance</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328314" y="1805916"/>
            <a:ext cx="10153934" cy="3785652"/>
          </a:xfrm>
          <a:prstGeom prst="rect">
            <a:avLst/>
          </a:prstGeom>
          <a:noFill/>
        </p:spPr>
        <p:txBody>
          <a:bodyPr wrap="square" rtlCol="0">
            <a:spAutoFit/>
          </a:bodyPr>
          <a:lstStyle/>
          <a:p>
            <a:pPr>
              <a:spcAft>
                <a:spcPts val="2400"/>
              </a:spcAft>
            </a:pPr>
            <a:r>
              <a:rPr lang="es-ES" dirty="0">
                <a:latin typeface="Montserrat Thin" panose="00000300000000000000" pitchFamily="2" charset="0"/>
                <a:cs typeface="Times New Roman" panose="02020603050405020304" pitchFamily="18" charset="0"/>
              </a:rPr>
              <a:t>El sistema de información Jinro Online shopping, gestionara el control de usuarios, con una interfaz de acceso en donde se manejaran diferentes perfiles de acceso y así mostrara las diferentes interfaces que manejaran cada uno de estos usuarios.</a:t>
            </a:r>
          </a:p>
          <a:p>
            <a:pPr>
              <a:spcAft>
                <a:spcPts val="2400"/>
              </a:spcAft>
            </a:pPr>
            <a:r>
              <a:rPr lang="es-ES" dirty="0">
                <a:latin typeface="Montserrat Thin" panose="00000300000000000000" pitchFamily="2" charset="0"/>
                <a:cs typeface="Times New Roman" panose="02020603050405020304" pitchFamily="18" charset="0"/>
              </a:rPr>
              <a:t>El sistema de información, gestionara el control de ventas del bar, permitiendo por medio de una interfaz grafica, al dueño del bar realizar un reporte semanal, quincenal y mensual de todas las ventas que realizan, ya sea por la plataforma o por el punto físico.</a:t>
            </a:r>
          </a:p>
          <a:p>
            <a:pPr>
              <a:spcAft>
                <a:spcPts val="2400"/>
              </a:spcAft>
            </a:pPr>
            <a:r>
              <a:rPr lang="es-ES" dirty="0">
                <a:latin typeface="Montserrat Thin" panose="00000300000000000000" pitchFamily="2" charset="0"/>
                <a:cs typeface="Times New Roman" panose="02020603050405020304" pitchFamily="18" charset="0"/>
              </a:rPr>
              <a:t>El sistema de información, gestionara el inventario del bar, con la implementación de una base de datos en donde se maneje en tiempo real el stock de productos y a su vez se envié notificación de productos próximos a vencer o a acabarse en el stock. </a:t>
            </a:r>
          </a:p>
          <a:p>
            <a:pPr>
              <a:spcAft>
                <a:spcPts val="2400"/>
              </a:spcAft>
            </a:pPr>
            <a:r>
              <a:rPr lang="es-ES" dirty="0">
                <a:latin typeface="Montserrat Thin" panose="00000300000000000000" pitchFamily="2" charset="0"/>
                <a:cs typeface="Times New Roman" panose="02020603050405020304" pitchFamily="18" charset="0"/>
              </a:rPr>
              <a:t>	.</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F64E136D-7527-4ADD-B1EC-C2D133D35B5C}"/>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12501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800162" y="192506"/>
            <a:ext cx="6753726" cy="1058778"/>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Alcance </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292562" y="2005266"/>
            <a:ext cx="10153934" cy="2893100"/>
          </a:xfrm>
          <a:prstGeom prst="rect">
            <a:avLst/>
          </a:prstGeom>
          <a:noFill/>
        </p:spPr>
        <p:txBody>
          <a:bodyPr wrap="square" rtlCol="0">
            <a:spAutoFit/>
          </a:bodyPr>
          <a:lstStyle/>
          <a:p>
            <a:pPr>
              <a:spcAft>
                <a:spcPts val="2400"/>
              </a:spcAft>
            </a:pPr>
            <a:r>
              <a:rPr lang="es-ES" dirty="0">
                <a:latin typeface="Montserrat Thin" panose="00000300000000000000" pitchFamily="2" charset="0"/>
                <a:cs typeface="Times New Roman" panose="02020603050405020304" pitchFamily="18" charset="0"/>
              </a:rPr>
              <a:t>El sistema de información gestionara el reporte de impresos y gráficos del bar, por medio de una interfaz grafica, que permita al dueño de bar imprimir los reporte de ventas que se necesite en físico. </a:t>
            </a:r>
          </a:p>
          <a:p>
            <a:pPr>
              <a:spcAft>
                <a:spcPts val="2400"/>
              </a:spcAft>
            </a:pPr>
            <a:r>
              <a:rPr lang="es-ES" dirty="0">
                <a:latin typeface="Montserrat Thin" panose="00000300000000000000" pitchFamily="2" charset="0"/>
                <a:cs typeface="Times New Roman" panose="02020603050405020304" pitchFamily="18" charset="0"/>
              </a:rPr>
              <a:t>Para la creación de esta aplicación, se utilizaran diferentes lenguajes de programación  con licencia gratuita, hasta encontrar el que más se ajuste al proyecto. La entrega de este proyecto se realizara el 24 de Julio de 2023, en la Centro Comercial Unisur, local 017 </a:t>
            </a:r>
            <a:r>
              <a:rPr lang="es-ES" dirty="0" err="1">
                <a:latin typeface="Montserrat Thin" panose="00000300000000000000" pitchFamily="2" charset="0"/>
                <a:cs typeface="Times New Roman" panose="02020603050405020304" pitchFamily="18" charset="0"/>
              </a:rPr>
              <a:t>Star</a:t>
            </a:r>
            <a:r>
              <a:rPr lang="es-ES" dirty="0">
                <a:latin typeface="Montserrat Thin" panose="00000300000000000000" pitchFamily="2" charset="0"/>
                <a:cs typeface="Times New Roman" panose="02020603050405020304" pitchFamily="18" charset="0"/>
              </a:rPr>
              <a:t> </a:t>
            </a:r>
            <a:r>
              <a:rPr lang="es-ES" dirty="0" err="1">
                <a:latin typeface="Montserrat Thin" panose="00000300000000000000" pitchFamily="2" charset="0"/>
                <a:cs typeface="Times New Roman" panose="02020603050405020304" pitchFamily="18" charset="0"/>
              </a:rPr>
              <a:t>Wars</a:t>
            </a:r>
            <a:r>
              <a:rPr lang="es-ES" dirty="0">
                <a:latin typeface="Montserrat Thin" panose="00000300000000000000" pitchFamily="2" charset="0"/>
                <a:cs typeface="Times New Roman" panose="02020603050405020304" pitchFamily="18" charset="0"/>
              </a:rPr>
              <a:t> Cra 4 # 28 – 10 San Mateo, Soacha al señor Rodrigo Bermúdez, durante el proceso de entrega de realizaran varias muestras del avance del proyecto siguiendo el cronograma de activades. </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EFB885F4-7683-443B-81B9-779D80783AD2}"/>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0932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800162" y="192506"/>
            <a:ext cx="6753726" cy="1058778"/>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Alcance </a:t>
            </a:r>
          </a:p>
        </p:txBody>
      </p:sp>
      <p:sp>
        <p:nvSpPr>
          <p:cNvPr id="2" name="CuadroTexto 1">
            <a:extLst>
              <a:ext uri="{FF2B5EF4-FFF2-40B4-BE49-F238E27FC236}">
                <a16:creationId xmlns:a16="http://schemas.microsoft.com/office/drawing/2014/main" id="{0D82857A-3733-4634-99E9-53F22A03F903}"/>
              </a:ext>
            </a:extLst>
          </p:cNvPr>
          <p:cNvSpPr txBox="1"/>
          <p:nvPr/>
        </p:nvSpPr>
        <p:spPr>
          <a:xfrm>
            <a:off x="1109434" y="2195571"/>
            <a:ext cx="10153934" cy="923330"/>
          </a:xfrm>
          <a:prstGeom prst="rect">
            <a:avLst/>
          </a:prstGeom>
          <a:noFill/>
        </p:spPr>
        <p:txBody>
          <a:bodyPr wrap="square" rtlCol="0">
            <a:spAutoFit/>
          </a:bodyPr>
          <a:lstStyle/>
          <a:p>
            <a:pPr>
              <a:spcAft>
                <a:spcPts val="2400"/>
              </a:spcAft>
            </a:pPr>
            <a:r>
              <a:rPr lang="es-ES" dirty="0">
                <a:latin typeface="Montserrat Thin" panose="00000300000000000000" pitchFamily="2" charset="0"/>
                <a:cs typeface="Times New Roman" panose="02020603050405020304" pitchFamily="18" charset="0"/>
              </a:rPr>
              <a:t>El sistema de información Jinro Online Shopping, tendrá como limitantes el no uso de una factura digital y la implementación del sistema en su entrega final de forma local en el bar que queda ubicado en el centro comercial Unisur, local 017. </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6" name="Picture 6" descr="Logo servicio nacional de aprendizaje sena simbolo servicio de  entrenamiento nacional, logo de dragon ball, ángulo, texto png | PNGEgg">
            <a:extLst>
              <a:ext uri="{FF2B5EF4-FFF2-40B4-BE49-F238E27FC236}">
                <a16:creationId xmlns:a16="http://schemas.microsoft.com/office/drawing/2014/main" id="{EFB885F4-7683-443B-81B9-779D80783AD2}"/>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601630"/>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584173" y="287198"/>
            <a:ext cx="7023654" cy="1894530"/>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Mapa de Procesos </a:t>
            </a:r>
          </a:p>
          <a:p>
            <a:r>
              <a:rPr lang="es-ES" sz="6000" dirty="0">
                <a:solidFill>
                  <a:schemeClr val="tx1"/>
                </a:solidFill>
                <a:latin typeface="Quango" panose="02000000000000000000" pitchFamily="50" charset="0"/>
              </a:rPr>
              <a:t>Empresa</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5" name="Gráfico 4" descr="Cabeza con engranajes">
            <a:hlinkClick r:id="rId6"/>
            <a:extLst>
              <a:ext uri="{FF2B5EF4-FFF2-40B4-BE49-F238E27FC236}">
                <a16:creationId xmlns:a16="http://schemas.microsoft.com/office/drawing/2014/main" id="{67FFEBBF-93F3-48E4-8256-FA49C687AC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144618" y="2274493"/>
            <a:ext cx="3902765" cy="3902765"/>
          </a:xfrm>
          <a:prstGeom prst="rect">
            <a:avLst/>
          </a:prstGeom>
        </p:spPr>
      </p:pic>
      <p:sp>
        <p:nvSpPr>
          <p:cNvPr id="6" name="CuadroTexto 5">
            <a:hlinkClick r:id="rId9" action="ppaction://hlinkfile"/>
            <a:extLst>
              <a:ext uri="{FF2B5EF4-FFF2-40B4-BE49-F238E27FC236}">
                <a16:creationId xmlns:a16="http://schemas.microsoft.com/office/drawing/2014/main" id="{BDD4C75D-C9C0-4E3F-B78C-267169F501EA}"/>
              </a:ext>
            </a:extLst>
          </p:cNvPr>
          <p:cNvSpPr txBox="1"/>
          <p:nvPr/>
        </p:nvSpPr>
        <p:spPr>
          <a:xfrm>
            <a:off x="4253948" y="5836016"/>
            <a:ext cx="3684104" cy="369332"/>
          </a:xfrm>
          <a:prstGeom prst="rect">
            <a:avLst/>
          </a:prstGeom>
          <a:noFill/>
        </p:spPr>
        <p:txBody>
          <a:bodyPr wrap="square" rtlCol="0">
            <a:spAutoFit/>
          </a:bodyPr>
          <a:lstStyle/>
          <a:p>
            <a:pPr algn="ctr"/>
            <a:r>
              <a:rPr lang="es-ES" dirty="0">
                <a:latin typeface="Montserrat Thin" panose="00000300000000000000" pitchFamily="2" charset="0"/>
                <a:cs typeface="Times New Roman" panose="02020603050405020304" pitchFamily="18" charset="0"/>
                <a:hlinkClick r:id="rId6"/>
              </a:rPr>
              <a:t>Ver el archivo de </a:t>
            </a:r>
            <a:r>
              <a:rPr lang="es-ES" dirty="0" err="1">
                <a:latin typeface="Montserrat Thin" panose="00000300000000000000" pitchFamily="2" charset="0"/>
                <a:cs typeface="Times New Roman" panose="02020603050405020304" pitchFamily="18" charset="0"/>
                <a:hlinkClick r:id="rId6"/>
              </a:rPr>
              <a:t>ludichart</a:t>
            </a:r>
            <a:r>
              <a:rPr lang="es-ES" dirty="0">
                <a:latin typeface="Montserrat Thin" panose="00000300000000000000" pitchFamily="2" charset="0"/>
                <a:cs typeface="Times New Roman" panose="02020603050405020304" pitchFamily="18" charset="0"/>
                <a:hlinkClick r:id="rId6"/>
              </a:rPr>
              <a:t> </a:t>
            </a:r>
            <a:endParaRPr lang="es-ES" dirty="0">
              <a:latin typeface="Montserrat Thin" panose="00000300000000000000" pitchFamily="2" charset="0"/>
              <a:cs typeface="Times New Roman" panose="02020603050405020304" pitchFamily="18" charset="0"/>
            </a:endParaRPr>
          </a:p>
        </p:txBody>
      </p:sp>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B29C1A8D-EBCB-423C-B0C9-1F0D7F4DB8A5}"/>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18796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186606" y="330253"/>
            <a:ext cx="6867937" cy="1058778"/>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BPMN de proyecto</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5" name="Gráfico 4" descr="Flujo de trabajo">
            <a:hlinkClick r:id="rId6" action="ppaction://hlinkfile"/>
            <a:extLst>
              <a:ext uri="{FF2B5EF4-FFF2-40B4-BE49-F238E27FC236}">
                <a16:creationId xmlns:a16="http://schemas.microsoft.com/office/drawing/2014/main" id="{67FFEBBF-93F3-48E4-8256-FA49C687AC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3669193" y="1389031"/>
            <a:ext cx="3902765" cy="3902765"/>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hlinkClick r:id="rId6" action="ppaction://hlinkfile"/>
            <a:extLst>
              <a:ext uri="{FF2B5EF4-FFF2-40B4-BE49-F238E27FC236}">
                <a16:creationId xmlns:a16="http://schemas.microsoft.com/office/drawing/2014/main" id="{8F5E8CD1-4169-4228-BEEB-5FECD90A2C5C}"/>
              </a:ext>
            </a:extLst>
          </p:cNvPr>
          <p:cNvSpPr txBox="1"/>
          <p:nvPr/>
        </p:nvSpPr>
        <p:spPr>
          <a:xfrm>
            <a:off x="4236220" y="5291796"/>
            <a:ext cx="2768707" cy="369332"/>
          </a:xfrm>
          <a:prstGeom prst="rect">
            <a:avLst/>
          </a:prstGeom>
          <a:noFill/>
        </p:spPr>
        <p:txBody>
          <a:bodyPr wrap="none" rtlCol="0">
            <a:spAutoFit/>
          </a:bodyPr>
          <a:lstStyle/>
          <a:p>
            <a:r>
              <a:rPr lang="es-ES" dirty="0">
                <a:latin typeface="Montserrat Thin" panose="00000300000000000000" pitchFamily="2" charset="0"/>
                <a:cs typeface="Times New Roman" panose="02020603050405020304" pitchFamily="18" charset="0"/>
                <a:hlinkClick r:id="rId6" action="ppaction://hlinkfile"/>
              </a:rPr>
              <a:t>Ver BPMN de proyecto</a:t>
            </a:r>
            <a:endParaRPr lang="es-ES" dirty="0"/>
          </a:p>
        </p:txBody>
      </p:sp>
    </p:spTree>
    <p:extLst>
      <p:ext uri="{BB962C8B-B14F-4D97-AF65-F5344CB8AC3E}">
        <p14:creationId xmlns:p14="http://schemas.microsoft.com/office/powerpoint/2010/main" val="204477682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186606" y="330252"/>
            <a:ext cx="6867937" cy="1949121"/>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Levantamiento de información</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5" name="Gráfico 4" descr="Cuaderno de estrategias">
            <a:hlinkClick r:id="rId6" action="ppaction://hlinkfile"/>
            <a:extLst>
              <a:ext uri="{FF2B5EF4-FFF2-40B4-BE49-F238E27FC236}">
                <a16:creationId xmlns:a16="http://schemas.microsoft.com/office/drawing/2014/main" id="{67FFEBBF-93F3-48E4-8256-FA49C687AC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3683207" y="2158615"/>
            <a:ext cx="3902765" cy="3902765"/>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hlinkClick r:id="rId6" action="ppaction://hlinkfile"/>
            <a:extLst>
              <a:ext uri="{FF2B5EF4-FFF2-40B4-BE49-F238E27FC236}">
                <a16:creationId xmlns:a16="http://schemas.microsoft.com/office/drawing/2014/main" id="{8F5E8CD1-4169-4228-BEEB-5FECD90A2C5C}"/>
              </a:ext>
            </a:extLst>
          </p:cNvPr>
          <p:cNvSpPr txBox="1"/>
          <p:nvPr/>
        </p:nvSpPr>
        <p:spPr>
          <a:xfrm>
            <a:off x="3667137" y="5940623"/>
            <a:ext cx="4121641" cy="369332"/>
          </a:xfrm>
          <a:prstGeom prst="rect">
            <a:avLst/>
          </a:prstGeom>
          <a:noFill/>
        </p:spPr>
        <p:txBody>
          <a:bodyPr wrap="none" rtlCol="0">
            <a:spAutoFit/>
          </a:bodyPr>
          <a:lstStyle/>
          <a:p>
            <a:r>
              <a:rPr lang="es-ES" dirty="0">
                <a:latin typeface="Montserrat Thin" panose="00000300000000000000" pitchFamily="2" charset="0"/>
                <a:cs typeface="Times New Roman" panose="02020603050405020304" pitchFamily="18" charset="0"/>
                <a:hlinkClick r:id="rId6" action="ppaction://hlinkfile"/>
              </a:rPr>
              <a:t>Ver Levantamiento de información</a:t>
            </a:r>
            <a:endParaRPr lang="es-ES" dirty="0"/>
          </a:p>
        </p:txBody>
      </p:sp>
    </p:spTree>
    <p:extLst>
      <p:ext uri="{BB962C8B-B14F-4D97-AF65-F5344CB8AC3E}">
        <p14:creationId xmlns:p14="http://schemas.microsoft.com/office/powerpoint/2010/main" val="19102225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186606" y="330252"/>
            <a:ext cx="6867937" cy="1949121"/>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Control de versiones</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5" name="Gráfico 4" descr="Libros con relleno sólido">
            <a:hlinkClick r:id="rId6" action="ppaction://hlinkfile"/>
            <a:extLst>
              <a:ext uri="{FF2B5EF4-FFF2-40B4-BE49-F238E27FC236}">
                <a16:creationId xmlns:a16="http://schemas.microsoft.com/office/drawing/2014/main" id="{67FFEBBF-93F3-48E4-8256-FA49C687AC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3675172" y="2158615"/>
            <a:ext cx="3902765" cy="3902765"/>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hlinkClick r:id="rId6" action="ppaction://hlinkfile"/>
            <a:extLst>
              <a:ext uri="{FF2B5EF4-FFF2-40B4-BE49-F238E27FC236}">
                <a16:creationId xmlns:a16="http://schemas.microsoft.com/office/drawing/2014/main" id="{8F5E8CD1-4169-4228-BEEB-5FECD90A2C5C}"/>
              </a:ext>
            </a:extLst>
          </p:cNvPr>
          <p:cNvSpPr txBox="1"/>
          <p:nvPr/>
        </p:nvSpPr>
        <p:spPr>
          <a:xfrm>
            <a:off x="4191706" y="5940623"/>
            <a:ext cx="2869696" cy="369332"/>
          </a:xfrm>
          <a:prstGeom prst="rect">
            <a:avLst/>
          </a:prstGeom>
          <a:noFill/>
        </p:spPr>
        <p:txBody>
          <a:bodyPr wrap="none" rtlCol="0">
            <a:spAutoFit/>
          </a:bodyPr>
          <a:lstStyle/>
          <a:p>
            <a:r>
              <a:rPr lang="es-ES" dirty="0">
                <a:latin typeface="Montserrat Thin" panose="00000300000000000000" pitchFamily="2" charset="0"/>
                <a:cs typeface="Times New Roman" panose="02020603050405020304" pitchFamily="18" charset="0"/>
                <a:hlinkClick r:id="rId11"/>
              </a:rPr>
              <a:t>Ver control de versiones</a:t>
            </a:r>
            <a:endParaRPr lang="es-ES" dirty="0"/>
          </a:p>
        </p:txBody>
      </p:sp>
    </p:spTree>
    <p:extLst>
      <p:ext uri="{BB962C8B-B14F-4D97-AF65-F5344CB8AC3E}">
        <p14:creationId xmlns:p14="http://schemas.microsoft.com/office/powerpoint/2010/main" val="21539480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186606" y="330252"/>
            <a:ext cx="6867937" cy="2843254"/>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Requerimientos funcionales y no funcionales</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pic>
        <p:nvPicPr>
          <p:cNvPr id="11" name="Gráfico 10" descr="Sala de juntas con relleno sólido">
            <a:hlinkClick r:id="rId8" action="ppaction://hlinkfile"/>
            <a:extLst>
              <a:ext uri="{FF2B5EF4-FFF2-40B4-BE49-F238E27FC236}">
                <a16:creationId xmlns:a16="http://schemas.microsoft.com/office/drawing/2014/main" id="{7666F22C-FEC3-46DC-A7DD-7F8ED10957D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3683207" y="2646979"/>
            <a:ext cx="3902765" cy="3902765"/>
          </a:xfrm>
          <a:prstGeom prst="rect">
            <a:avLst/>
          </a:prstGeom>
        </p:spPr>
      </p:pic>
      <p:sp>
        <p:nvSpPr>
          <p:cNvPr id="12" name="CuadroTexto 11">
            <a:extLst>
              <a:ext uri="{FF2B5EF4-FFF2-40B4-BE49-F238E27FC236}">
                <a16:creationId xmlns:a16="http://schemas.microsoft.com/office/drawing/2014/main" id="{1C08D7B7-33F2-4215-B622-1876158A9E88}"/>
              </a:ext>
            </a:extLst>
          </p:cNvPr>
          <p:cNvSpPr txBox="1"/>
          <p:nvPr/>
        </p:nvSpPr>
        <p:spPr>
          <a:xfrm>
            <a:off x="3925628" y="6023217"/>
            <a:ext cx="3417923" cy="646331"/>
          </a:xfrm>
          <a:prstGeom prst="rect">
            <a:avLst/>
          </a:prstGeom>
          <a:noFill/>
        </p:spPr>
        <p:txBody>
          <a:bodyPr wrap="none" rtlCol="0">
            <a:spAutoFit/>
          </a:bodyPr>
          <a:lstStyle/>
          <a:p>
            <a:pPr algn="ctr"/>
            <a:r>
              <a:rPr lang="es-ES" dirty="0">
                <a:latin typeface="Montserrat Thin" panose="00000300000000000000" pitchFamily="2" charset="0"/>
                <a:cs typeface="Times New Roman" panose="02020603050405020304" pitchFamily="18" charset="0"/>
                <a:hlinkClick r:id="rId8" action="ppaction://hlinkfile"/>
              </a:rPr>
              <a:t>Requerimientos funcionales </a:t>
            </a:r>
          </a:p>
          <a:p>
            <a:pPr algn="ctr"/>
            <a:r>
              <a:rPr lang="es-ES" dirty="0">
                <a:latin typeface="Montserrat Thin" panose="00000300000000000000" pitchFamily="2" charset="0"/>
                <a:cs typeface="Times New Roman" panose="02020603050405020304" pitchFamily="18" charset="0"/>
                <a:hlinkClick r:id="rId8" action="ppaction://hlinkfile"/>
              </a:rPr>
              <a:t>y no funcionales</a:t>
            </a:r>
            <a:endParaRPr lang="es-ES" dirty="0"/>
          </a:p>
        </p:txBody>
      </p:sp>
    </p:spTree>
    <p:extLst>
      <p:ext uri="{BB962C8B-B14F-4D97-AF65-F5344CB8AC3E}">
        <p14:creationId xmlns:p14="http://schemas.microsoft.com/office/powerpoint/2010/main" val="22629415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606035" y="519383"/>
            <a:ext cx="6867937" cy="1081689"/>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Casos de Uso</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pic>
        <p:nvPicPr>
          <p:cNvPr id="11" name="Gráfico 10" descr="Drama con relleno sólido">
            <a:hlinkClick r:id="rId8" action="ppaction://hlinkfile"/>
            <a:extLst>
              <a:ext uri="{FF2B5EF4-FFF2-40B4-BE49-F238E27FC236}">
                <a16:creationId xmlns:a16="http://schemas.microsoft.com/office/drawing/2014/main" id="{7666F22C-FEC3-46DC-A7DD-7F8ED10957D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088621" y="1726727"/>
            <a:ext cx="3902765" cy="3902765"/>
          </a:xfrm>
          <a:prstGeom prst="rect">
            <a:avLst/>
          </a:prstGeom>
        </p:spPr>
      </p:pic>
      <p:sp>
        <p:nvSpPr>
          <p:cNvPr id="12" name="CuadroTexto 11">
            <a:extLst>
              <a:ext uri="{FF2B5EF4-FFF2-40B4-BE49-F238E27FC236}">
                <a16:creationId xmlns:a16="http://schemas.microsoft.com/office/drawing/2014/main" id="{1C08D7B7-33F2-4215-B622-1876158A9E88}"/>
              </a:ext>
            </a:extLst>
          </p:cNvPr>
          <p:cNvSpPr txBox="1"/>
          <p:nvPr/>
        </p:nvSpPr>
        <p:spPr>
          <a:xfrm>
            <a:off x="5216700" y="5755148"/>
            <a:ext cx="1646606" cy="369332"/>
          </a:xfrm>
          <a:prstGeom prst="rect">
            <a:avLst/>
          </a:prstGeom>
          <a:noFill/>
        </p:spPr>
        <p:txBody>
          <a:bodyPr wrap="none" rtlCol="0">
            <a:spAutoFit/>
          </a:bodyPr>
          <a:lstStyle/>
          <a:p>
            <a:pPr algn="ctr"/>
            <a:r>
              <a:rPr lang="es-ES" dirty="0">
                <a:latin typeface="Montserrat Thin" panose="00000300000000000000" pitchFamily="2" charset="0"/>
                <a:cs typeface="Times New Roman" panose="02020603050405020304" pitchFamily="18" charset="0"/>
                <a:hlinkClick r:id="rId8" action="ppaction://hlinkfile"/>
              </a:rPr>
              <a:t>Casos de uso</a:t>
            </a:r>
            <a:endParaRPr lang="es-ES" dirty="0">
              <a:latin typeface="Montserrat Thin" panose="00000300000000000000" pitchFamily="2" charset="0"/>
              <a:cs typeface="Times New Roman" panose="02020603050405020304" pitchFamily="18" charset="0"/>
            </a:endParaRPr>
          </a:p>
        </p:txBody>
      </p:sp>
    </p:spTree>
    <p:extLst>
      <p:ext uri="{BB962C8B-B14F-4D97-AF65-F5344CB8AC3E}">
        <p14:creationId xmlns:p14="http://schemas.microsoft.com/office/powerpoint/2010/main" val="25287187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606035" y="519383"/>
            <a:ext cx="6867937" cy="1847299"/>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Casos de Uso extendido</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pic>
        <p:nvPicPr>
          <p:cNvPr id="11" name="Gráfico 10" descr="Piezas de rompecabezas con relleno sólido">
            <a:hlinkClick r:id="rId8" action="ppaction://hlinkfile"/>
            <a:extLst>
              <a:ext uri="{FF2B5EF4-FFF2-40B4-BE49-F238E27FC236}">
                <a16:creationId xmlns:a16="http://schemas.microsoft.com/office/drawing/2014/main" id="{7666F22C-FEC3-46DC-A7DD-7F8ED10957D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144617" y="2188560"/>
            <a:ext cx="3902765" cy="3902765"/>
          </a:xfrm>
          <a:prstGeom prst="rect">
            <a:avLst/>
          </a:prstGeom>
        </p:spPr>
      </p:pic>
      <p:sp>
        <p:nvSpPr>
          <p:cNvPr id="12" name="CuadroTexto 11">
            <a:extLst>
              <a:ext uri="{FF2B5EF4-FFF2-40B4-BE49-F238E27FC236}">
                <a16:creationId xmlns:a16="http://schemas.microsoft.com/office/drawing/2014/main" id="{1C08D7B7-33F2-4215-B622-1876158A9E88}"/>
              </a:ext>
            </a:extLst>
          </p:cNvPr>
          <p:cNvSpPr txBox="1"/>
          <p:nvPr/>
        </p:nvSpPr>
        <p:spPr>
          <a:xfrm>
            <a:off x="4673177" y="6091325"/>
            <a:ext cx="2845651" cy="369332"/>
          </a:xfrm>
          <a:prstGeom prst="rect">
            <a:avLst/>
          </a:prstGeom>
          <a:noFill/>
        </p:spPr>
        <p:txBody>
          <a:bodyPr wrap="none" rtlCol="0">
            <a:spAutoFit/>
          </a:bodyPr>
          <a:lstStyle/>
          <a:p>
            <a:pPr algn="ctr"/>
            <a:r>
              <a:rPr lang="es-ES" dirty="0">
                <a:latin typeface="Montserrat Thin" panose="00000300000000000000" pitchFamily="2" charset="0"/>
                <a:cs typeface="Times New Roman" panose="02020603050405020304" pitchFamily="18" charset="0"/>
                <a:hlinkClick r:id="rId8" action="ppaction://hlinkfile"/>
              </a:rPr>
              <a:t>Casos de uso extendido</a:t>
            </a:r>
            <a:endParaRPr lang="es-ES" dirty="0">
              <a:latin typeface="Montserrat Thin" panose="00000300000000000000" pitchFamily="2" charset="0"/>
              <a:cs typeface="Times New Roman" panose="02020603050405020304" pitchFamily="18" charset="0"/>
            </a:endParaRPr>
          </a:p>
        </p:txBody>
      </p:sp>
    </p:spTree>
    <p:extLst>
      <p:ext uri="{BB962C8B-B14F-4D97-AF65-F5344CB8AC3E}">
        <p14:creationId xmlns:p14="http://schemas.microsoft.com/office/powerpoint/2010/main" val="151946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606035" y="519383"/>
            <a:ext cx="6867937" cy="1847299"/>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Modelo entidad relación</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pic>
        <p:nvPicPr>
          <p:cNvPr id="11" name="Gráfico 10" descr="Red con relleno sólido">
            <a:hlinkClick r:id="rId8" action="ppaction://hlinkfile"/>
            <a:extLst>
              <a:ext uri="{FF2B5EF4-FFF2-40B4-BE49-F238E27FC236}">
                <a16:creationId xmlns:a16="http://schemas.microsoft.com/office/drawing/2014/main" id="{7666F22C-FEC3-46DC-A7DD-7F8ED10957D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144617" y="2188560"/>
            <a:ext cx="3902765" cy="3902765"/>
          </a:xfrm>
          <a:prstGeom prst="rect">
            <a:avLst/>
          </a:prstGeom>
        </p:spPr>
      </p:pic>
      <p:sp>
        <p:nvSpPr>
          <p:cNvPr id="12" name="CuadroTexto 11">
            <a:extLst>
              <a:ext uri="{FF2B5EF4-FFF2-40B4-BE49-F238E27FC236}">
                <a16:creationId xmlns:a16="http://schemas.microsoft.com/office/drawing/2014/main" id="{1C08D7B7-33F2-4215-B622-1876158A9E88}"/>
              </a:ext>
            </a:extLst>
          </p:cNvPr>
          <p:cNvSpPr txBox="1"/>
          <p:nvPr/>
        </p:nvSpPr>
        <p:spPr>
          <a:xfrm>
            <a:off x="4632306" y="6091325"/>
            <a:ext cx="2927404" cy="369332"/>
          </a:xfrm>
          <a:prstGeom prst="rect">
            <a:avLst/>
          </a:prstGeom>
          <a:noFill/>
        </p:spPr>
        <p:txBody>
          <a:bodyPr wrap="none" rtlCol="0">
            <a:spAutoFit/>
          </a:bodyPr>
          <a:lstStyle/>
          <a:p>
            <a:pPr algn="ctr"/>
            <a:r>
              <a:rPr lang="es-ES" dirty="0">
                <a:latin typeface="Montserrat Thin" panose="00000300000000000000" pitchFamily="2" charset="0"/>
                <a:cs typeface="Times New Roman" panose="02020603050405020304" pitchFamily="18" charset="0"/>
                <a:hlinkClick r:id="rId8" action="ppaction://hlinkfile"/>
              </a:rPr>
              <a:t>Modelo entidad relación</a:t>
            </a:r>
            <a:endParaRPr lang="es-ES" dirty="0">
              <a:latin typeface="Montserrat Thin" panose="00000300000000000000" pitchFamily="2" charset="0"/>
              <a:cs typeface="Times New Roman" panose="02020603050405020304" pitchFamily="18" charset="0"/>
            </a:endParaRPr>
          </a:p>
        </p:txBody>
      </p:sp>
    </p:spTree>
    <p:extLst>
      <p:ext uri="{BB962C8B-B14F-4D97-AF65-F5344CB8AC3E}">
        <p14:creationId xmlns:p14="http://schemas.microsoft.com/office/powerpoint/2010/main" val="31577749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606035" y="519383"/>
            <a:ext cx="6867937" cy="1847299"/>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6000" dirty="0">
                <a:solidFill>
                  <a:schemeClr val="tx1"/>
                </a:solidFill>
                <a:latin typeface="Quango" panose="02000000000000000000" pitchFamily="50" charset="0"/>
              </a:rPr>
              <a:t>Diagrama de Gantt</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pic>
        <p:nvPicPr>
          <p:cNvPr id="11" name="Gráfico 10" descr="Ordenador con relleno sólido">
            <a:hlinkClick r:id="rId8" action="ppaction://hlinkfile"/>
            <a:extLst>
              <a:ext uri="{FF2B5EF4-FFF2-40B4-BE49-F238E27FC236}">
                <a16:creationId xmlns:a16="http://schemas.microsoft.com/office/drawing/2014/main" id="{7666F22C-FEC3-46DC-A7DD-7F8ED10957D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144617" y="2188560"/>
            <a:ext cx="3902765" cy="3902765"/>
          </a:xfrm>
          <a:prstGeom prst="rect">
            <a:avLst/>
          </a:prstGeom>
        </p:spPr>
      </p:pic>
      <p:sp>
        <p:nvSpPr>
          <p:cNvPr id="12" name="CuadroTexto 11">
            <a:extLst>
              <a:ext uri="{FF2B5EF4-FFF2-40B4-BE49-F238E27FC236}">
                <a16:creationId xmlns:a16="http://schemas.microsoft.com/office/drawing/2014/main" id="{1C08D7B7-33F2-4215-B622-1876158A9E88}"/>
              </a:ext>
            </a:extLst>
          </p:cNvPr>
          <p:cNvSpPr txBox="1"/>
          <p:nvPr/>
        </p:nvSpPr>
        <p:spPr>
          <a:xfrm>
            <a:off x="4908821" y="6091325"/>
            <a:ext cx="2374369" cy="369332"/>
          </a:xfrm>
          <a:prstGeom prst="rect">
            <a:avLst/>
          </a:prstGeom>
          <a:noFill/>
        </p:spPr>
        <p:txBody>
          <a:bodyPr wrap="none" rtlCol="0">
            <a:spAutoFit/>
          </a:bodyPr>
          <a:lstStyle/>
          <a:p>
            <a:pPr algn="ctr"/>
            <a:r>
              <a:rPr lang="es-ES" dirty="0">
                <a:latin typeface="Montserrat Thin" panose="00000300000000000000" pitchFamily="2" charset="0"/>
                <a:cs typeface="Times New Roman" panose="02020603050405020304" pitchFamily="18" charset="0"/>
                <a:hlinkClick r:id="rId8" action="ppaction://hlinkfile"/>
              </a:rPr>
              <a:t>Diagrama de Gantt</a:t>
            </a:r>
            <a:endParaRPr lang="es-ES" dirty="0">
              <a:latin typeface="Montserrat Thin" panose="00000300000000000000" pitchFamily="2" charset="0"/>
              <a:cs typeface="Times New Roman" panose="02020603050405020304" pitchFamily="18" charset="0"/>
            </a:endParaRPr>
          </a:p>
        </p:txBody>
      </p:sp>
    </p:spTree>
    <p:extLst>
      <p:ext uri="{BB962C8B-B14F-4D97-AF65-F5344CB8AC3E}">
        <p14:creationId xmlns:p14="http://schemas.microsoft.com/office/powerpoint/2010/main" val="31513027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2BB2675-E8C7-460D-8137-BBBBC9A02CD6}"/>
              </a:ext>
            </a:extLst>
          </p:cNvPr>
          <p:cNvSpPr txBox="1">
            <a:spLocks/>
          </p:cNvSpPr>
          <p:nvPr/>
        </p:nvSpPr>
        <p:spPr>
          <a:xfrm>
            <a:off x="2796501" y="2419482"/>
            <a:ext cx="6867937" cy="2019036"/>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spcBef>
                <a:spcPct val="0"/>
              </a:spcBef>
              <a:buNone/>
              <a:defRPr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sz="13800" dirty="0">
                <a:solidFill>
                  <a:schemeClr val="tx1"/>
                </a:solidFill>
                <a:latin typeface="Quango" panose="02000000000000000000" pitchFamily="50" charset="0"/>
              </a:rPr>
              <a:t>Gracias</a:t>
            </a:r>
          </a:p>
        </p:txBody>
      </p:sp>
      <p:pic>
        <p:nvPicPr>
          <p:cNvPr id="8" name="Gráfico 7">
            <a:extLst>
              <a:ext uri="{FF2B5EF4-FFF2-40B4-BE49-F238E27FC236}">
                <a16:creationId xmlns:a16="http://schemas.microsoft.com/office/drawing/2014/main" id="{99013300-59CC-4A26-95BD-59FE60734B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56565" y="4676272"/>
            <a:ext cx="5562600" cy="5334000"/>
          </a:xfrm>
          <a:prstGeom prst="rect">
            <a:avLst/>
          </a:prstGeom>
        </p:spPr>
      </p:pic>
      <p:pic>
        <p:nvPicPr>
          <p:cNvPr id="9" name="Gráfico 8">
            <a:extLst>
              <a:ext uri="{FF2B5EF4-FFF2-40B4-BE49-F238E27FC236}">
                <a16:creationId xmlns:a16="http://schemas.microsoft.com/office/drawing/2014/main" id="{52CD6538-6BF5-4F1F-B349-8B48EFB936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68628">
            <a:off x="9289194" y="-3003881"/>
            <a:ext cx="5562600" cy="5334000"/>
          </a:xfrm>
          <a:prstGeom prst="rect">
            <a:avLst/>
          </a:prstGeom>
        </p:spPr>
      </p:pic>
      <p:pic>
        <p:nvPicPr>
          <p:cNvPr id="7" name="Gráfico 6" descr="Actualizar RTL">
            <a:hlinkClick r:id="rId6" action="ppaction://hlinksldjump"/>
            <a:extLst>
              <a:ext uri="{FF2B5EF4-FFF2-40B4-BE49-F238E27FC236}">
                <a16:creationId xmlns:a16="http://schemas.microsoft.com/office/drawing/2014/main" id="{42561B45-63DB-48AD-A958-5738A2E5FA7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396331" y="5728253"/>
            <a:ext cx="914400" cy="914400"/>
          </a:xfrm>
          <a:prstGeom prst="rect">
            <a:avLst/>
          </a:prstGeom>
        </p:spPr>
      </p:pic>
      <p:pic>
        <p:nvPicPr>
          <p:cNvPr id="10" name="Picture 6" descr="Logo servicio nacional de aprendizaje sena simbolo servicio de  entrenamiento nacional, logo de dragon ball, ángulo, texto png | PNGEgg">
            <a:extLst>
              <a:ext uri="{FF2B5EF4-FFF2-40B4-BE49-F238E27FC236}">
                <a16:creationId xmlns:a16="http://schemas.microsoft.com/office/drawing/2014/main" id="{33158273-75EC-4CDD-9A0D-C0168A731F7D}"/>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2000" b="98667" l="10000" r="90000">
                        <a14:foregroundMark x1="48889" y1="14333" x2="48889" y2="14333"/>
                        <a14:foregroundMark x1="50778" y1="5667" x2="50778" y2="5667"/>
                        <a14:foregroundMark x1="47889" y1="5667" x2="47889" y2="5667"/>
                        <a14:foregroundMark x1="59333" y1="47167" x2="59333" y2="47167"/>
                        <a14:foregroundMark x1="54111" y1="70000" x2="54111" y2="70000"/>
                        <a14:foregroundMark x1="35556" y1="98667" x2="35556" y2="98667"/>
                        <a14:foregroundMark x1="23111" y1="28500" x2="23111" y2="28500"/>
                        <a14:foregroundMark x1="36444" y1="32167" x2="36444" y2="32167"/>
                        <a14:foregroundMark x1="49778" y1="30667" x2="49778" y2="30667"/>
                        <a14:foregroundMark x1="49778" y1="2000" x2="49778" y2="2000"/>
                        <a14:foregroundMark x1="70111" y1="33333" x2="70111" y2="33333"/>
                      </a14:backgroundRemoval>
                    </a14:imgEffect>
                  </a14:imgLayer>
                </a14:imgProps>
              </a:ext>
              <a:ext uri="{28A0092B-C50C-407E-A947-70E740481C1C}">
                <a14:useLocalDpi xmlns:a14="http://schemas.microsoft.com/office/drawing/2010/main" val="0"/>
              </a:ext>
            </a:extLst>
          </a:blip>
          <a:srcRect/>
          <a:stretch>
            <a:fillRect/>
          </a:stretch>
        </p:blipFill>
        <p:spPr bwMode="auto">
          <a:xfrm>
            <a:off x="194873" y="237370"/>
            <a:ext cx="914561" cy="609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9011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etras en made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etras en mader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etras en madera">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docProps/app.xml><?xml version="1.0" encoding="utf-8"?>
<Properties xmlns="http://schemas.openxmlformats.org/officeDocument/2006/extended-properties" xmlns:vt="http://schemas.openxmlformats.org/officeDocument/2006/docPropsVTypes">
  <Template>TM03090434[[fn=Letras en madera]]</Template>
  <TotalTime>2971</TotalTime>
  <Words>1324</Words>
  <Application>Microsoft Office PowerPoint</Application>
  <PresentationFormat>Panorámica</PresentationFormat>
  <Paragraphs>70</Paragraphs>
  <Slides>25</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25</vt:i4>
      </vt:variant>
    </vt:vector>
  </HeadingPairs>
  <TitlesOfParts>
    <vt:vector size="33" baseType="lpstr">
      <vt:lpstr>Georgia</vt:lpstr>
      <vt:lpstr>Montserrat SemiBold</vt:lpstr>
      <vt:lpstr>Montserrat Thin</vt:lpstr>
      <vt:lpstr>Quango</vt:lpstr>
      <vt:lpstr>Trebuchet MS</vt:lpstr>
      <vt:lpstr>Wingdings</vt:lpstr>
      <vt:lpstr>Wingdings 2</vt:lpstr>
      <vt:lpstr>Letras en madera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de Analisis de Sistemas de Identificación </dc:title>
  <dc:creator>Jonathan Ramos</dc:creator>
  <cp:lastModifiedBy>Jonathan Ramos</cp:lastModifiedBy>
  <cp:revision>66</cp:revision>
  <dcterms:created xsi:type="dcterms:W3CDTF">2021-08-21T21:55:28Z</dcterms:created>
  <dcterms:modified xsi:type="dcterms:W3CDTF">2022-02-14T22:26:07Z</dcterms:modified>
</cp:coreProperties>
</file>